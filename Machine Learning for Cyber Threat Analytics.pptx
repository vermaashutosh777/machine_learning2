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Quattrocento Sans" charset="-122" pitchFamily="34"/>
      <p:regular r:id="rId27"/>
    </p:embeddedFont>
    <p:embeddedFont>
      <p:font typeface="Liter" charset="-122" pitchFamily="34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s-one.com/6acabf43c1aba9f3e601eaf768bff19baff2270a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51" b="25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3D4A5C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116806"/>
            <a:ext cx="2552700" cy="381000"/>
          </a:xfrm>
          <a:custGeom>
            <a:avLst/>
            <a:gdLst/>
            <a:ahLst/>
            <a:cxnLst/>
            <a:rect l="l" t="t" r="r" b="b"/>
            <a:pathLst>
              <a:path w="2552700" h="381000">
                <a:moveTo>
                  <a:pt x="0" y="0"/>
                </a:moveTo>
                <a:lnTo>
                  <a:pt x="2552700" y="0"/>
                </a:lnTo>
                <a:lnTo>
                  <a:pt x="25527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6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16806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193006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 THREAT ANALYTICS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88306"/>
            <a:ext cx="72199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for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 Threat Analytics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593306"/>
            <a:ext cx="66103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Intrusion Detection and Network Latency Prediction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the UNSW-NB15 Dataset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78869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5131594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Ashutosh Kumar Verma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(Student ID: 475852)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474494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Ramik Sharma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(Student ID: 477656)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62100"/>
            <a:ext cx="4629150" cy="1695450"/>
          </a:xfrm>
          <a:custGeom>
            <a:avLst/>
            <a:gdLst/>
            <a:ahLst/>
            <a:cxnLst/>
            <a:rect l="l" t="t" r="r" b="b"/>
            <a:pathLst>
              <a:path w="4629150" h="1695450">
                <a:moveTo>
                  <a:pt x="0" y="0"/>
                </a:moveTo>
                <a:lnTo>
                  <a:pt x="4629150" y="0"/>
                </a:lnTo>
                <a:lnTo>
                  <a:pt x="462915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6210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17526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847850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 &amp; Methodology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324100"/>
            <a:ext cx="4305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Dual-task framework combining classification and regression with rigorous validation methodology ensuring data integrity and realistic performance estimates.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409950"/>
            <a:ext cx="4629150" cy="1447800"/>
          </a:xfrm>
          <a:custGeom>
            <a:avLst/>
            <a:gdLst/>
            <a:ahLst/>
            <a:cxnLst/>
            <a:rect l="l" t="t" r="r" b="b"/>
            <a:pathLst>
              <a:path w="4629150" h="1447800">
                <a:moveTo>
                  <a:pt x="0" y="0"/>
                </a:moveTo>
                <a:lnTo>
                  <a:pt x="4629150" y="0"/>
                </a:lnTo>
                <a:lnTo>
                  <a:pt x="46291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40995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600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552450" y="36004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1100" y="36957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Characteristics &amp; Preprocessing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4171950"/>
            <a:ext cx="430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UNSW-NB15 dataset analysis, data quality assessment, and comprehensive preprocessing pipeline with leakage prevention.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5010150"/>
            <a:ext cx="4629150" cy="1695450"/>
          </a:xfrm>
          <a:custGeom>
            <a:avLst/>
            <a:gdLst/>
            <a:ahLst/>
            <a:cxnLst/>
            <a:rect l="l" t="t" r="r" b="b"/>
            <a:pathLst>
              <a:path w="4629150" h="1695450">
                <a:moveTo>
                  <a:pt x="0" y="0"/>
                </a:moveTo>
                <a:lnTo>
                  <a:pt x="4629150" y="0"/>
                </a:lnTo>
                <a:lnTo>
                  <a:pt x="462915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501015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5200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0" name="Text 18"/>
          <p:cNvSpPr/>
          <p:nvPr/>
        </p:nvSpPr>
        <p:spPr>
          <a:xfrm>
            <a:off x="552450" y="52006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52959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Task: Intrusion Detection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5772150"/>
            <a:ext cx="4305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and multi-class threat detection models, feature importance analysis, and holdout validation on unseen network traffic data.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41875" y="1660475"/>
            <a:ext cx="6572250" cy="1447800"/>
          </a:xfrm>
          <a:custGeom>
            <a:avLst/>
            <a:gdLst/>
            <a:ahLst/>
            <a:cxnLst/>
            <a:rect l="l" t="t" r="r" b="b"/>
            <a:pathLst>
              <a:path w="6572250" h="1447800">
                <a:moveTo>
                  <a:pt x="0" y="0"/>
                </a:moveTo>
                <a:lnTo>
                  <a:pt x="6572250" y="0"/>
                </a:lnTo>
                <a:lnTo>
                  <a:pt x="65722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241875" y="1660475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51425" y="185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275" y="185097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22925" y="1946225"/>
            <a:ext cx="429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Task: Network Performance Prediction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51425" y="2422475"/>
            <a:ext cx="6248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continuous network metrics including latency, throughput, and connection duration with tree-based ensemble methods and residual analysis.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41875" y="3457501"/>
            <a:ext cx="6572250" cy="1447800"/>
          </a:xfrm>
          <a:custGeom>
            <a:avLst/>
            <a:gdLst/>
            <a:ahLst/>
            <a:cxnLst/>
            <a:rect l="l" t="t" r="r" b="b"/>
            <a:pathLst>
              <a:path w="6572250" h="1447800">
                <a:moveTo>
                  <a:pt x="0" y="0"/>
                </a:moveTo>
                <a:lnTo>
                  <a:pt x="6572250" y="0"/>
                </a:lnTo>
                <a:lnTo>
                  <a:pt x="65722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241875" y="3457501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1" name="Shape 29"/>
          <p:cNvSpPr/>
          <p:nvPr/>
        </p:nvSpPr>
        <p:spPr>
          <a:xfrm>
            <a:off x="5451425" y="36480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275" y="3648001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22925" y="3743251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 &amp; Insights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51425" y="4219501"/>
            <a:ext cx="6248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comparison, operational implications for cybersecurity, and practical deployment considerations for real-world threat detection.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27588" y="5259363"/>
            <a:ext cx="6581775" cy="1343025"/>
          </a:xfrm>
          <a:custGeom>
            <a:avLst/>
            <a:gdLst/>
            <a:ahLst/>
            <a:cxnLst/>
            <a:rect l="l" t="t" r="r" b="b"/>
            <a:pathLst>
              <a:path w="6581775" h="1343025">
                <a:moveTo>
                  <a:pt x="0" y="0"/>
                </a:moveTo>
                <a:lnTo>
                  <a:pt x="6581775" y="0"/>
                </a:lnTo>
                <a:lnTo>
                  <a:pt x="6581775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6B728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2850" y="5454625"/>
            <a:ext cx="627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Highlights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51425" y="5873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8" name="Text 36"/>
          <p:cNvSpPr/>
          <p:nvPr/>
        </p:nvSpPr>
        <p:spPr>
          <a:xfrm>
            <a:off x="5689550" y="58356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50K training samples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02563" y="5873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0" name="Text 38"/>
          <p:cNvSpPr/>
          <p:nvPr/>
        </p:nvSpPr>
        <p:spPr>
          <a:xfrm>
            <a:off x="8840688" y="583562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45-53 engineered features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51425" y="6216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2" name="Text 40"/>
          <p:cNvSpPr/>
          <p:nvPr/>
        </p:nvSpPr>
        <p:spPr>
          <a:xfrm>
            <a:off x="5689550" y="6178525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Holdout validation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602563" y="6216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4" name="Text 42"/>
          <p:cNvSpPr/>
          <p:nvPr/>
        </p:nvSpPr>
        <p:spPr>
          <a:xfrm>
            <a:off x="8840688" y="6178525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leakage prevention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business-science.io/418de9db422c386c092c9ccb1ab9fd5124848b2b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3D4A5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776413"/>
            <a:ext cx="1619250" cy="419100"/>
          </a:xfrm>
          <a:custGeom>
            <a:avLst/>
            <a:gdLst/>
            <a:ahLst/>
            <a:cxnLst/>
            <a:rect l="l" t="t" r="r" b="b"/>
            <a:pathLst>
              <a:path w="1619250" h="419100">
                <a:moveTo>
                  <a:pt x="0" y="0"/>
                </a:moveTo>
                <a:lnTo>
                  <a:pt x="1619250" y="0"/>
                </a:lnTo>
                <a:lnTo>
                  <a:pt x="16192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7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77641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852612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424113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Methodology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6721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the dual-task approach and rigorous validation framework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43488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16" y="375716"/>
            <a:ext cx="1151571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spc="59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716" y="676290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3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Dual-Task Machine Learning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716" y="1164721"/>
            <a:ext cx="901720" cy="37572"/>
          </a:xfrm>
          <a:custGeom>
            <a:avLst/>
            <a:gdLst/>
            <a:ahLst/>
            <a:cxnLst/>
            <a:rect l="l" t="t" r="r" b="b"/>
            <a:pathLst>
              <a:path w="901720" h="37572">
                <a:moveTo>
                  <a:pt x="0" y="0"/>
                </a:moveTo>
                <a:lnTo>
                  <a:pt x="901720" y="0"/>
                </a:lnTo>
                <a:lnTo>
                  <a:pt x="901720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85109" y="1399544"/>
            <a:ext cx="5588783" cy="5447889"/>
          </a:xfrm>
          <a:custGeom>
            <a:avLst/>
            <a:gdLst/>
            <a:ahLst/>
            <a:cxnLst/>
            <a:rect l="l" t="t" r="r" b="b"/>
            <a:pathLst>
              <a:path w="5588783" h="5447889">
                <a:moveTo>
                  <a:pt x="75126" y="0"/>
                </a:moveTo>
                <a:lnTo>
                  <a:pt x="5513656" y="0"/>
                </a:lnTo>
                <a:cubicBezTo>
                  <a:pt x="5555148" y="0"/>
                  <a:pt x="5588783" y="33635"/>
                  <a:pt x="5588783" y="75126"/>
                </a:cubicBezTo>
                <a:lnTo>
                  <a:pt x="5588783" y="5372763"/>
                </a:lnTo>
                <a:cubicBezTo>
                  <a:pt x="5588783" y="5414254"/>
                  <a:pt x="5555148" y="5447889"/>
                  <a:pt x="5513656" y="5447889"/>
                </a:cubicBezTo>
                <a:lnTo>
                  <a:pt x="75126" y="5447889"/>
                </a:lnTo>
                <a:cubicBezTo>
                  <a:pt x="33635" y="5447889"/>
                  <a:pt x="0" y="5414254"/>
                  <a:pt x="0" y="5372763"/>
                </a:cubicBezTo>
                <a:lnTo>
                  <a:pt x="0" y="75126"/>
                </a:lnTo>
                <a:cubicBezTo>
                  <a:pt x="0" y="33663"/>
                  <a:pt x="33663" y="0"/>
                  <a:pt x="7512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A0AEC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2361" y="1596795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75145" y="0"/>
                </a:moveTo>
                <a:lnTo>
                  <a:pt x="450858" y="0"/>
                </a:lnTo>
                <a:cubicBezTo>
                  <a:pt x="492332" y="0"/>
                  <a:pt x="526003" y="33671"/>
                  <a:pt x="526003" y="75145"/>
                </a:cubicBezTo>
                <a:lnTo>
                  <a:pt x="526003" y="450858"/>
                </a:lnTo>
                <a:cubicBezTo>
                  <a:pt x="526003" y="492360"/>
                  <a:pt x="492360" y="526003"/>
                  <a:pt x="450858" y="526003"/>
                </a:cubicBezTo>
                <a:lnTo>
                  <a:pt x="75145" y="526003"/>
                </a:lnTo>
                <a:cubicBezTo>
                  <a:pt x="33671" y="526003"/>
                  <a:pt x="0" y="492332"/>
                  <a:pt x="0" y="450858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Shape 5"/>
          <p:cNvSpPr/>
          <p:nvPr/>
        </p:nvSpPr>
        <p:spPr>
          <a:xfrm>
            <a:off x="706817" y="1718903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140894" y="0"/>
                </a:moveTo>
                <a:cubicBezTo>
                  <a:pt x="143425" y="0"/>
                  <a:pt x="145957" y="550"/>
                  <a:pt x="148269" y="1596"/>
                </a:cubicBezTo>
                <a:lnTo>
                  <a:pt x="251958" y="45570"/>
                </a:lnTo>
                <a:cubicBezTo>
                  <a:pt x="264066" y="50689"/>
                  <a:pt x="273092" y="62632"/>
                  <a:pt x="273037" y="77051"/>
                </a:cubicBezTo>
                <a:cubicBezTo>
                  <a:pt x="272761" y="131648"/>
                  <a:pt x="250306" y="231539"/>
                  <a:pt x="155478" y="276944"/>
                </a:cubicBezTo>
                <a:cubicBezTo>
                  <a:pt x="146287" y="281347"/>
                  <a:pt x="135610" y="281347"/>
                  <a:pt x="126419" y="276944"/>
                </a:cubicBezTo>
                <a:cubicBezTo>
                  <a:pt x="31536" y="231539"/>
                  <a:pt x="9136" y="131648"/>
                  <a:pt x="8861" y="77051"/>
                </a:cubicBezTo>
                <a:cubicBezTo>
                  <a:pt x="8806" y="62632"/>
                  <a:pt x="17832" y="50689"/>
                  <a:pt x="29940" y="45570"/>
                </a:cubicBezTo>
                <a:lnTo>
                  <a:pt x="133574" y="1596"/>
                </a:lnTo>
                <a:cubicBezTo>
                  <a:pt x="135885" y="550"/>
                  <a:pt x="138362" y="0"/>
                  <a:pt x="140894" y="0"/>
                </a:cubicBezTo>
                <a:close/>
                <a:moveTo>
                  <a:pt x="140894" y="36764"/>
                </a:moveTo>
                <a:lnTo>
                  <a:pt x="140894" y="244858"/>
                </a:lnTo>
                <a:cubicBezTo>
                  <a:pt x="216844" y="208093"/>
                  <a:pt x="237263" y="126639"/>
                  <a:pt x="237758" y="77877"/>
                </a:cubicBezTo>
                <a:lnTo>
                  <a:pt x="140894" y="36819"/>
                </a:lnTo>
                <a:lnTo>
                  <a:pt x="140894" y="3681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221079" y="1596795"/>
            <a:ext cx="1981904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Task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1079" y="1897368"/>
            <a:ext cx="194433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Intrusion Detection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361" y="2273085"/>
            <a:ext cx="5194280" cy="1352579"/>
          </a:xfrm>
          <a:custGeom>
            <a:avLst/>
            <a:gdLst/>
            <a:ahLst/>
            <a:cxnLst/>
            <a:rect l="l" t="t" r="r" b="b"/>
            <a:pathLst>
              <a:path w="5194280" h="1352579">
                <a:moveTo>
                  <a:pt x="75149" y="0"/>
                </a:moveTo>
                <a:lnTo>
                  <a:pt x="5119131" y="0"/>
                </a:lnTo>
                <a:cubicBezTo>
                  <a:pt x="5160635" y="0"/>
                  <a:pt x="5194280" y="33645"/>
                  <a:pt x="5194280" y="75149"/>
                </a:cubicBezTo>
                <a:lnTo>
                  <a:pt x="5194280" y="1277430"/>
                </a:lnTo>
                <a:cubicBezTo>
                  <a:pt x="5194280" y="1318934"/>
                  <a:pt x="5160635" y="1352579"/>
                  <a:pt x="5119131" y="1352579"/>
                </a:cubicBezTo>
                <a:lnTo>
                  <a:pt x="75149" y="1352579"/>
                </a:lnTo>
                <a:cubicBezTo>
                  <a:pt x="33673" y="1352579"/>
                  <a:pt x="0" y="1318906"/>
                  <a:pt x="0" y="1277430"/>
                </a:cubicBezTo>
                <a:lnTo>
                  <a:pt x="0" y="75149"/>
                </a:lnTo>
                <a:cubicBezTo>
                  <a:pt x="0" y="33673"/>
                  <a:pt x="33673" y="0"/>
                  <a:pt x="7514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5076" y="2385800"/>
            <a:ext cx="5053387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076" y="2723945"/>
            <a:ext cx="5043994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Objective:</a:t>
            </a:r>
            <a:pPr>
              <a:lnSpc>
                <a:spcPct val="14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Distinguish between benign and malicious network traffic with high recall to minimize missed attacks.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9165" y="3343877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4" name="Text 12"/>
          <p:cNvSpPr/>
          <p:nvPr/>
        </p:nvSpPr>
        <p:spPr>
          <a:xfrm>
            <a:off x="911112" y="3287519"/>
            <a:ext cx="244215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Label (0 = Normal, 1 = Attack)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2361" y="3738379"/>
            <a:ext cx="5194280" cy="1540438"/>
          </a:xfrm>
          <a:custGeom>
            <a:avLst/>
            <a:gdLst/>
            <a:ahLst/>
            <a:cxnLst/>
            <a:rect l="l" t="t" r="r" b="b"/>
            <a:pathLst>
              <a:path w="5194280" h="1540438">
                <a:moveTo>
                  <a:pt x="75143" y="0"/>
                </a:moveTo>
                <a:lnTo>
                  <a:pt x="5119138" y="0"/>
                </a:lnTo>
                <a:cubicBezTo>
                  <a:pt x="5160638" y="0"/>
                  <a:pt x="5194280" y="33642"/>
                  <a:pt x="5194280" y="75143"/>
                </a:cubicBezTo>
                <a:lnTo>
                  <a:pt x="5194280" y="1465295"/>
                </a:lnTo>
                <a:cubicBezTo>
                  <a:pt x="5194280" y="1506795"/>
                  <a:pt x="5160638" y="1540438"/>
                  <a:pt x="5119138" y="1540438"/>
                </a:cubicBezTo>
                <a:lnTo>
                  <a:pt x="75143" y="1540438"/>
                </a:lnTo>
                <a:cubicBezTo>
                  <a:pt x="33642" y="1540438"/>
                  <a:pt x="0" y="1506795"/>
                  <a:pt x="0" y="1465295"/>
                </a:cubicBezTo>
                <a:lnTo>
                  <a:pt x="0" y="75143"/>
                </a:lnTo>
                <a:cubicBezTo>
                  <a:pt x="0" y="33670"/>
                  <a:pt x="33670" y="0"/>
                  <a:pt x="751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5076" y="3851094"/>
            <a:ext cx="5053387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Multi-Class Classification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5076" y="4189239"/>
            <a:ext cx="5043994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Objective:</a:t>
            </a:r>
            <a:pPr>
              <a:lnSpc>
                <a:spcPct val="14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Categorize malicious traffic into 9 specific attack types for enhanced threat intelligence.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9165" y="4790385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873541" y="4752814"/>
            <a:ext cx="51661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377581" y="4790385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2541957" y="4752814"/>
            <a:ext cx="50721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45997" y="4790385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4210373" y="4752814"/>
            <a:ext cx="479039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Fuzzers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9165" y="5015815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873541" y="4978243"/>
            <a:ext cx="97686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Reconnaissance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377581" y="5015815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7" name="Text 25"/>
          <p:cNvSpPr/>
          <p:nvPr/>
        </p:nvSpPr>
        <p:spPr>
          <a:xfrm>
            <a:off x="2541957" y="4978243"/>
            <a:ext cx="300573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45997" y="5015815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4210373" y="4978243"/>
            <a:ext cx="61993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Shellcode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2361" y="5391532"/>
            <a:ext cx="5194280" cy="1052006"/>
          </a:xfrm>
          <a:custGeom>
            <a:avLst/>
            <a:gdLst/>
            <a:ahLst/>
            <a:cxnLst/>
            <a:rect l="l" t="t" r="r" b="b"/>
            <a:pathLst>
              <a:path w="5194280" h="1052006">
                <a:moveTo>
                  <a:pt x="75145" y="0"/>
                </a:moveTo>
                <a:lnTo>
                  <a:pt x="5119136" y="0"/>
                </a:lnTo>
                <a:cubicBezTo>
                  <a:pt x="5160637" y="0"/>
                  <a:pt x="5194280" y="33643"/>
                  <a:pt x="5194280" y="75145"/>
                </a:cubicBezTo>
                <a:lnTo>
                  <a:pt x="5194280" y="976861"/>
                </a:lnTo>
                <a:cubicBezTo>
                  <a:pt x="5194280" y="1018363"/>
                  <a:pt x="5160637" y="1052006"/>
                  <a:pt x="5119136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5076" y="5504247"/>
            <a:ext cx="504399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3254" y="5837695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27626" y="20576"/>
                </a:moveTo>
                <a:cubicBezTo>
                  <a:pt x="131824" y="23629"/>
                  <a:pt x="132763" y="29500"/>
                  <a:pt x="129710" y="33697"/>
                </a:cubicBezTo>
                <a:lnTo>
                  <a:pt x="54567" y="137019"/>
                </a:lnTo>
                <a:cubicBezTo>
                  <a:pt x="52953" y="139250"/>
                  <a:pt x="50458" y="140630"/>
                  <a:pt x="47698" y="140864"/>
                </a:cubicBezTo>
                <a:cubicBezTo>
                  <a:pt x="44939" y="141099"/>
                  <a:pt x="42268" y="140072"/>
                  <a:pt x="40331" y="138135"/>
                </a:cubicBezTo>
                <a:lnTo>
                  <a:pt x="2759" y="100563"/>
                </a:lnTo>
                <a:cubicBezTo>
                  <a:pt x="-910" y="96894"/>
                  <a:pt x="-910" y="90935"/>
                  <a:pt x="2759" y="87266"/>
                </a:cubicBezTo>
                <a:cubicBezTo>
                  <a:pt x="6428" y="83597"/>
                  <a:pt x="12387" y="83597"/>
                  <a:pt x="16056" y="87266"/>
                </a:cubicBezTo>
                <a:lnTo>
                  <a:pt x="45849" y="117059"/>
                </a:lnTo>
                <a:lnTo>
                  <a:pt x="114535" y="22631"/>
                </a:lnTo>
                <a:cubicBezTo>
                  <a:pt x="117588" y="18434"/>
                  <a:pt x="123458" y="17494"/>
                  <a:pt x="127656" y="20547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3" name="Text 31"/>
          <p:cNvSpPr/>
          <p:nvPr/>
        </p:nvSpPr>
        <p:spPr>
          <a:xfrm>
            <a:off x="910722" y="5804820"/>
            <a:ext cx="230165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(Priority)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44664" y="5837695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27626" y="20576"/>
                </a:moveTo>
                <a:cubicBezTo>
                  <a:pt x="131824" y="23629"/>
                  <a:pt x="132763" y="29500"/>
                  <a:pt x="129710" y="33697"/>
                </a:cubicBezTo>
                <a:lnTo>
                  <a:pt x="54567" y="137019"/>
                </a:lnTo>
                <a:cubicBezTo>
                  <a:pt x="52953" y="139250"/>
                  <a:pt x="50458" y="140630"/>
                  <a:pt x="47698" y="140864"/>
                </a:cubicBezTo>
                <a:cubicBezTo>
                  <a:pt x="44939" y="141099"/>
                  <a:pt x="42268" y="140072"/>
                  <a:pt x="40331" y="138135"/>
                </a:cubicBezTo>
                <a:lnTo>
                  <a:pt x="2759" y="100563"/>
                </a:lnTo>
                <a:cubicBezTo>
                  <a:pt x="-910" y="96894"/>
                  <a:pt x="-910" y="90935"/>
                  <a:pt x="2759" y="87266"/>
                </a:cubicBezTo>
                <a:cubicBezTo>
                  <a:pt x="6428" y="83597"/>
                  <a:pt x="12387" y="83597"/>
                  <a:pt x="16056" y="87266"/>
                </a:cubicBezTo>
                <a:lnTo>
                  <a:pt x="45849" y="117059"/>
                </a:lnTo>
                <a:lnTo>
                  <a:pt x="114535" y="22631"/>
                </a:lnTo>
                <a:cubicBezTo>
                  <a:pt x="117588" y="18434"/>
                  <a:pt x="123458" y="17494"/>
                  <a:pt x="127656" y="20547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5" name="Text 33"/>
          <p:cNvSpPr/>
          <p:nvPr/>
        </p:nvSpPr>
        <p:spPr>
          <a:xfrm>
            <a:off x="3432132" y="5804820"/>
            <a:ext cx="230165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3254" y="6138268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27626" y="20576"/>
                </a:moveTo>
                <a:cubicBezTo>
                  <a:pt x="131824" y="23629"/>
                  <a:pt x="132763" y="29500"/>
                  <a:pt x="129710" y="33697"/>
                </a:cubicBezTo>
                <a:lnTo>
                  <a:pt x="54567" y="137019"/>
                </a:lnTo>
                <a:cubicBezTo>
                  <a:pt x="52953" y="139250"/>
                  <a:pt x="50458" y="140630"/>
                  <a:pt x="47698" y="140864"/>
                </a:cubicBezTo>
                <a:cubicBezTo>
                  <a:pt x="44939" y="141099"/>
                  <a:pt x="42268" y="140072"/>
                  <a:pt x="40331" y="138135"/>
                </a:cubicBezTo>
                <a:lnTo>
                  <a:pt x="2759" y="100563"/>
                </a:lnTo>
                <a:cubicBezTo>
                  <a:pt x="-910" y="96894"/>
                  <a:pt x="-910" y="90935"/>
                  <a:pt x="2759" y="87266"/>
                </a:cubicBezTo>
                <a:cubicBezTo>
                  <a:pt x="6428" y="83597"/>
                  <a:pt x="12387" y="83597"/>
                  <a:pt x="16056" y="87266"/>
                </a:cubicBezTo>
                <a:lnTo>
                  <a:pt x="45849" y="117059"/>
                </a:lnTo>
                <a:lnTo>
                  <a:pt x="114535" y="22631"/>
                </a:lnTo>
                <a:cubicBezTo>
                  <a:pt x="117588" y="18434"/>
                  <a:pt x="123458" y="17494"/>
                  <a:pt x="127656" y="20547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7" name="Text 35"/>
          <p:cNvSpPr/>
          <p:nvPr/>
        </p:nvSpPr>
        <p:spPr>
          <a:xfrm>
            <a:off x="910722" y="6105393"/>
            <a:ext cx="230165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44664" y="6138268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27626" y="20576"/>
                </a:moveTo>
                <a:cubicBezTo>
                  <a:pt x="131824" y="23629"/>
                  <a:pt x="132763" y="29500"/>
                  <a:pt x="129710" y="33697"/>
                </a:cubicBezTo>
                <a:lnTo>
                  <a:pt x="54567" y="137019"/>
                </a:lnTo>
                <a:cubicBezTo>
                  <a:pt x="52953" y="139250"/>
                  <a:pt x="50458" y="140630"/>
                  <a:pt x="47698" y="140864"/>
                </a:cubicBezTo>
                <a:cubicBezTo>
                  <a:pt x="44939" y="141099"/>
                  <a:pt x="42268" y="140072"/>
                  <a:pt x="40331" y="138135"/>
                </a:cubicBezTo>
                <a:lnTo>
                  <a:pt x="2759" y="100563"/>
                </a:lnTo>
                <a:cubicBezTo>
                  <a:pt x="-910" y="96894"/>
                  <a:pt x="-910" y="90935"/>
                  <a:pt x="2759" y="87266"/>
                </a:cubicBezTo>
                <a:cubicBezTo>
                  <a:pt x="6428" y="83597"/>
                  <a:pt x="12387" y="83597"/>
                  <a:pt x="16056" y="87266"/>
                </a:cubicBezTo>
                <a:lnTo>
                  <a:pt x="45849" y="117059"/>
                </a:lnTo>
                <a:lnTo>
                  <a:pt x="114535" y="22631"/>
                </a:lnTo>
                <a:cubicBezTo>
                  <a:pt x="117588" y="18434"/>
                  <a:pt x="123458" y="17494"/>
                  <a:pt x="127656" y="20547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9" name="Text 37"/>
          <p:cNvSpPr/>
          <p:nvPr/>
        </p:nvSpPr>
        <p:spPr>
          <a:xfrm>
            <a:off x="3432132" y="6105393"/>
            <a:ext cx="230165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7007" y="1399544"/>
            <a:ext cx="5588783" cy="3888666"/>
          </a:xfrm>
          <a:custGeom>
            <a:avLst/>
            <a:gdLst/>
            <a:ahLst/>
            <a:cxnLst/>
            <a:rect l="l" t="t" r="r" b="b"/>
            <a:pathLst>
              <a:path w="5588783" h="3888666">
                <a:moveTo>
                  <a:pt x="75129" y="0"/>
                </a:moveTo>
                <a:lnTo>
                  <a:pt x="5513654" y="0"/>
                </a:lnTo>
                <a:cubicBezTo>
                  <a:pt x="5555146" y="0"/>
                  <a:pt x="5588783" y="33636"/>
                  <a:pt x="5588783" y="75129"/>
                </a:cubicBezTo>
                <a:lnTo>
                  <a:pt x="5588783" y="3813537"/>
                </a:lnTo>
                <a:cubicBezTo>
                  <a:pt x="5588783" y="3855029"/>
                  <a:pt x="5555146" y="3888666"/>
                  <a:pt x="5513654" y="3888666"/>
                </a:cubicBezTo>
                <a:lnTo>
                  <a:pt x="75129" y="3888666"/>
                </a:lnTo>
                <a:cubicBezTo>
                  <a:pt x="33636" y="3888666"/>
                  <a:pt x="0" y="3855029"/>
                  <a:pt x="0" y="3813537"/>
                </a:cubicBezTo>
                <a:lnTo>
                  <a:pt x="0" y="75129"/>
                </a:lnTo>
                <a:cubicBezTo>
                  <a:pt x="0" y="33664"/>
                  <a:pt x="33664" y="0"/>
                  <a:pt x="7512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25400">
            <a:solidFill>
              <a:srgbClr val="6B7280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4258" y="1596795"/>
            <a:ext cx="526003" cy="526003"/>
          </a:xfrm>
          <a:custGeom>
            <a:avLst/>
            <a:gdLst/>
            <a:ahLst/>
            <a:cxnLst/>
            <a:rect l="l" t="t" r="r" b="b"/>
            <a:pathLst>
              <a:path w="526003" h="526003">
                <a:moveTo>
                  <a:pt x="75145" y="0"/>
                </a:moveTo>
                <a:lnTo>
                  <a:pt x="450858" y="0"/>
                </a:lnTo>
                <a:cubicBezTo>
                  <a:pt x="492332" y="0"/>
                  <a:pt x="526003" y="33671"/>
                  <a:pt x="526003" y="75145"/>
                </a:cubicBezTo>
                <a:lnTo>
                  <a:pt x="526003" y="450858"/>
                </a:lnTo>
                <a:cubicBezTo>
                  <a:pt x="526003" y="492360"/>
                  <a:pt x="492360" y="526003"/>
                  <a:pt x="450858" y="526003"/>
                </a:cubicBezTo>
                <a:lnTo>
                  <a:pt x="75145" y="526003"/>
                </a:lnTo>
                <a:cubicBezTo>
                  <a:pt x="33671" y="526003"/>
                  <a:pt x="0" y="492332"/>
                  <a:pt x="0" y="450858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538714" y="1718903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35223" y="35223"/>
                </a:moveTo>
                <a:cubicBezTo>
                  <a:pt x="35223" y="25482"/>
                  <a:pt x="27353" y="17612"/>
                  <a:pt x="17612" y="17612"/>
                </a:cubicBezTo>
                <a:cubicBezTo>
                  <a:pt x="7870" y="17612"/>
                  <a:pt x="0" y="25482"/>
                  <a:pt x="0" y="35223"/>
                </a:cubicBezTo>
                <a:lnTo>
                  <a:pt x="0" y="220146"/>
                </a:lnTo>
                <a:cubicBezTo>
                  <a:pt x="0" y="244473"/>
                  <a:pt x="19703" y="264176"/>
                  <a:pt x="44029" y="264176"/>
                </a:cubicBezTo>
                <a:lnTo>
                  <a:pt x="264176" y="264176"/>
                </a:lnTo>
                <a:cubicBezTo>
                  <a:pt x="273917" y="264176"/>
                  <a:pt x="281787" y="256305"/>
                  <a:pt x="281787" y="246564"/>
                </a:cubicBezTo>
                <a:cubicBezTo>
                  <a:pt x="281787" y="236822"/>
                  <a:pt x="273917" y="228952"/>
                  <a:pt x="264176" y="228952"/>
                </a:cubicBezTo>
                <a:lnTo>
                  <a:pt x="44029" y="228952"/>
                </a:lnTo>
                <a:cubicBezTo>
                  <a:pt x="39186" y="228952"/>
                  <a:pt x="35223" y="224990"/>
                  <a:pt x="35223" y="220146"/>
                </a:cubicBezTo>
                <a:lnTo>
                  <a:pt x="35223" y="35223"/>
                </a:lnTo>
                <a:close/>
                <a:moveTo>
                  <a:pt x="259002" y="82885"/>
                </a:moveTo>
                <a:cubicBezTo>
                  <a:pt x="265882" y="76006"/>
                  <a:pt x="265882" y="64833"/>
                  <a:pt x="259002" y="57954"/>
                </a:cubicBezTo>
                <a:cubicBezTo>
                  <a:pt x="252123" y="51074"/>
                  <a:pt x="240950" y="51074"/>
                  <a:pt x="234071" y="57954"/>
                </a:cubicBezTo>
                <a:lnTo>
                  <a:pt x="176117" y="115962"/>
                </a:lnTo>
                <a:lnTo>
                  <a:pt x="144526" y="84426"/>
                </a:lnTo>
                <a:cubicBezTo>
                  <a:pt x="137647" y="77547"/>
                  <a:pt x="126474" y="77547"/>
                  <a:pt x="119595" y="84426"/>
                </a:cubicBezTo>
                <a:lnTo>
                  <a:pt x="66759" y="137261"/>
                </a:lnTo>
                <a:cubicBezTo>
                  <a:pt x="59880" y="144141"/>
                  <a:pt x="59880" y="155313"/>
                  <a:pt x="66759" y="162193"/>
                </a:cubicBezTo>
                <a:cubicBezTo>
                  <a:pt x="73639" y="169072"/>
                  <a:pt x="84811" y="169072"/>
                  <a:pt x="91691" y="162193"/>
                </a:cubicBezTo>
                <a:lnTo>
                  <a:pt x="132088" y="121796"/>
                </a:lnTo>
                <a:lnTo>
                  <a:pt x="163679" y="153387"/>
                </a:lnTo>
                <a:cubicBezTo>
                  <a:pt x="170558" y="160267"/>
                  <a:pt x="181731" y="160267"/>
                  <a:pt x="188610" y="153387"/>
                </a:cubicBezTo>
                <a:lnTo>
                  <a:pt x="259057" y="8294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7052976" y="1596795"/>
            <a:ext cx="2235513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Task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52976" y="1897368"/>
            <a:ext cx="219794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Performance Prediction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4258" y="2273085"/>
            <a:ext cx="5194280" cy="1653153"/>
          </a:xfrm>
          <a:custGeom>
            <a:avLst/>
            <a:gdLst/>
            <a:ahLst/>
            <a:cxnLst/>
            <a:rect l="l" t="t" r="r" b="b"/>
            <a:pathLst>
              <a:path w="5194280" h="1653153">
                <a:moveTo>
                  <a:pt x="75136" y="0"/>
                </a:moveTo>
                <a:lnTo>
                  <a:pt x="5119145" y="0"/>
                </a:lnTo>
                <a:cubicBezTo>
                  <a:pt x="5160641" y="0"/>
                  <a:pt x="5194280" y="33639"/>
                  <a:pt x="5194280" y="75136"/>
                </a:cubicBezTo>
                <a:lnTo>
                  <a:pt x="5194280" y="1578017"/>
                </a:lnTo>
                <a:cubicBezTo>
                  <a:pt x="5194280" y="1619513"/>
                  <a:pt x="5160641" y="1653153"/>
                  <a:pt x="5119145" y="1653153"/>
                </a:cubicBezTo>
                <a:lnTo>
                  <a:pt x="75136" y="1653153"/>
                </a:lnTo>
                <a:cubicBezTo>
                  <a:pt x="33639" y="1653153"/>
                  <a:pt x="0" y="1619513"/>
                  <a:pt x="0" y="1578017"/>
                </a:cubicBezTo>
                <a:lnTo>
                  <a:pt x="0" y="75136"/>
                </a:lnTo>
                <a:cubicBezTo>
                  <a:pt x="0" y="33667"/>
                  <a:pt x="33667" y="0"/>
                  <a:pt x="7513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526973" y="2385800"/>
            <a:ext cx="5053387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Targets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26973" y="2723945"/>
            <a:ext cx="5043994" cy="488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3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Objective:</a:t>
            </a:r>
            <a:pPr>
              <a:lnSpc>
                <a:spcPct val="14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 8 continuous network performance metrics to support proactive defense and capacity planning.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41063" y="3348573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9" name="Text 47"/>
          <p:cNvSpPr/>
          <p:nvPr/>
        </p:nvSpPr>
        <p:spPr>
          <a:xfrm>
            <a:off x="6667867" y="3315698"/>
            <a:ext cx="1419944" cy="16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Duration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62546" y="3348573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51" name="Text 49"/>
          <p:cNvSpPr/>
          <p:nvPr/>
        </p:nvSpPr>
        <p:spPr>
          <a:xfrm>
            <a:off x="9189350" y="3315698"/>
            <a:ext cx="1215722" cy="16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Bytes Transferred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541063" y="3649146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53" name="Text 51"/>
          <p:cNvSpPr/>
          <p:nvPr/>
        </p:nvSpPr>
        <p:spPr>
          <a:xfrm>
            <a:off x="6667867" y="3616271"/>
            <a:ext cx="1199798" cy="16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Throughput (bps)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62546" y="3649146"/>
            <a:ext cx="112715" cy="112715"/>
          </a:xfrm>
          <a:custGeom>
            <a:avLst/>
            <a:gdLst/>
            <a:ahLst/>
            <a:cxnLst/>
            <a:rect l="l" t="t" r="r" b="b"/>
            <a:pathLst>
              <a:path w="112715" h="112715">
                <a:moveTo>
                  <a:pt x="0" y="56357"/>
                </a:moveTo>
                <a:cubicBezTo>
                  <a:pt x="0" y="25253"/>
                  <a:pt x="25253" y="0"/>
                  <a:pt x="56357" y="0"/>
                </a:cubicBezTo>
                <a:cubicBezTo>
                  <a:pt x="87462" y="0"/>
                  <a:pt x="112715" y="25253"/>
                  <a:pt x="112715" y="56357"/>
                </a:cubicBezTo>
                <a:cubicBezTo>
                  <a:pt x="112715" y="87462"/>
                  <a:pt x="87462" y="112715"/>
                  <a:pt x="56357" y="112715"/>
                </a:cubicBezTo>
                <a:cubicBezTo>
                  <a:pt x="25253" y="112715"/>
                  <a:pt x="0" y="87462"/>
                  <a:pt x="0" y="5635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55" name="Text 53"/>
          <p:cNvSpPr/>
          <p:nvPr/>
        </p:nvSpPr>
        <p:spPr>
          <a:xfrm>
            <a:off x="9189350" y="3616271"/>
            <a:ext cx="1320732" cy="16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Timing Metrics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14258" y="4038952"/>
            <a:ext cx="5194280" cy="1052006"/>
          </a:xfrm>
          <a:custGeom>
            <a:avLst/>
            <a:gdLst/>
            <a:ahLst/>
            <a:cxnLst/>
            <a:rect l="l" t="t" r="r" b="b"/>
            <a:pathLst>
              <a:path w="5194280" h="1052006">
                <a:moveTo>
                  <a:pt x="75145" y="0"/>
                </a:moveTo>
                <a:lnTo>
                  <a:pt x="5119136" y="0"/>
                </a:lnTo>
                <a:cubicBezTo>
                  <a:pt x="5160637" y="0"/>
                  <a:pt x="5194280" y="33643"/>
                  <a:pt x="5194280" y="75145"/>
                </a:cubicBezTo>
                <a:lnTo>
                  <a:pt x="5194280" y="976861"/>
                </a:lnTo>
                <a:cubicBezTo>
                  <a:pt x="5194280" y="1018363"/>
                  <a:pt x="5160637" y="1052006"/>
                  <a:pt x="5119136" y="1052006"/>
                </a:cubicBezTo>
                <a:lnTo>
                  <a:pt x="75145" y="1052006"/>
                </a:lnTo>
                <a:cubicBezTo>
                  <a:pt x="33671" y="1052006"/>
                  <a:pt x="0" y="1018335"/>
                  <a:pt x="0" y="976861"/>
                </a:cubicBezTo>
                <a:lnTo>
                  <a:pt x="0" y="75145"/>
                </a:lnTo>
                <a:cubicBezTo>
                  <a:pt x="0" y="33671"/>
                  <a:pt x="33671" y="0"/>
                  <a:pt x="7514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526973" y="4151667"/>
            <a:ext cx="504399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55152" y="4485116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27626" y="20576"/>
                </a:moveTo>
                <a:cubicBezTo>
                  <a:pt x="131824" y="23629"/>
                  <a:pt x="132763" y="29500"/>
                  <a:pt x="129710" y="33697"/>
                </a:cubicBezTo>
                <a:lnTo>
                  <a:pt x="54567" y="137019"/>
                </a:lnTo>
                <a:cubicBezTo>
                  <a:pt x="52953" y="139250"/>
                  <a:pt x="50458" y="140630"/>
                  <a:pt x="47698" y="140864"/>
                </a:cubicBezTo>
                <a:cubicBezTo>
                  <a:pt x="44939" y="141099"/>
                  <a:pt x="42268" y="140072"/>
                  <a:pt x="40331" y="138135"/>
                </a:cubicBezTo>
                <a:lnTo>
                  <a:pt x="2759" y="100563"/>
                </a:lnTo>
                <a:cubicBezTo>
                  <a:pt x="-910" y="96894"/>
                  <a:pt x="-910" y="90935"/>
                  <a:pt x="2759" y="87266"/>
                </a:cubicBezTo>
                <a:cubicBezTo>
                  <a:pt x="6428" y="83597"/>
                  <a:pt x="12387" y="83597"/>
                  <a:pt x="16056" y="87266"/>
                </a:cubicBezTo>
                <a:lnTo>
                  <a:pt x="45849" y="117059"/>
                </a:lnTo>
                <a:lnTo>
                  <a:pt x="114535" y="22631"/>
                </a:lnTo>
                <a:cubicBezTo>
                  <a:pt x="117588" y="18434"/>
                  <a:pt x="123458" y="17494"/>
                  <a:pt x="127656" y="2054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59" name="Text 57"/>
          <p:cNvSpPr/>
          <p:nvPr/>
        </p:nvSpPr>
        <p:spPr>
          <a:xfrm>
            <a:off x="6742619" y="4452240"/>
            <a:ext cx="230165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76635" y="4485116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27626" y="20576"/>
                </a:moveTo>
                <a:cubicBezTo>
                  <a:pt x="131824" y="23629"/>
                  <a:pt x="132763" y="29500"/>
                  <a:pt x="129710" y="33697"/>
                </a:cubicBezTo>
                <a:lnTo>
                  <a:pt x="54567" y="137019"/>
                </a:lnTo>
                <a:cubicBezTo>
                  <a:pt x="52953" y="139250"/>
                  <a:pt x="50458" y="140630"/>
                  <a:pt x="47698" y="140864"/>
                </a:cubicBezTo>
                <a:cubicBezTo>
                  <a:pt x="44939" y="141099"/>
                  <a:pt x="42268" y="140072"/>
                  <a:pt x="40331" y="138135"/>
                </a:cubicBezTo>
                <a:lnTo>
                  <a:pt x="2759" y="100563"/>
                </a:lnTo>
                <a:cubicBezTo>
                  <a:pt x="-910" y="96894"/>
                  <a:pt x="-910" y="90935"/>
                  <a:pt x="2759" y="87266"/>
                </a:cubicBezTo>
                <a:cubicBezTo>
                  <a:pt x="6428" y="83597"/>
                  <a:pt x="12387" y="83597"/>
                  <a:pt x="16056" y="87266"/>
                </a:cubicBezTo>
                <a:lnTo>
                  <a:pt x="45849" y="117059"/>
                </a:lnTo>
                <a:lnTo>
                  <a:pt x="114535" y="22631"/>
                </a:lnTo>
                <a:cubicBezTo>
                  <a:pt x="117588" y="18434"/>
                  <a:pt x="123458" y="17494"/>
                  <a:pt x="127656" y="2054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61" name="Text 59"/>
          <p:cNvSpPr/>
          <p:nvPr/>
        </p:nvSpPr>
        <p:spPr>
          <a:xfrm>
            <a:off x="9264103" y="4452240"/>
            <a:ext cx="230165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555152" y="4785689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27626" y="20576"/>
                </a:moveTo>
                <a:cubicBezTo>
                  <a:pt x="131824" y="23629"/>
                  <a:pt x="132763" y="29500"/>
                  <a:pt x="129710" y="33697"/>
                </a:cubicBezTo>
                <a:lnTo>
                  <a:pt x="54567" y="137019"/>
                </a:lnTo>
                <a:cubicBezTo>
                  <a:pt x="52953" y="139250"/>
                  <a:pt x="50458" y="140630"/>
                  <a:pt x="47698" y="140864"/>
                </a:cubicBezTo>
                <a:cubicBezTo>
                  <a:pt x="44939" y="141099"/>
                  <a:pt x="42268" y="140072"/>
                  <a:pt x="40331" y="138135"/>
                </a:cubicBezTo>
                <a:lnTo>
                  <a:pt x="2759" y="100563"/>
                </a:lnTo>
                <a:cubicBezTo>
                  <a:pt x="-910" y="96894"/>
                  <a:pt x="-910" y="90935"/>
                  <a:pt x="2759" y="87266"/>
                </a:cubicBezTo>
                <a:cubicBezTo>
                  <a:pt x="6428" y="83597"/>
                  <a:pt x="12387" y="83597"/>
                  <a:pt x="16056" y="87266"/>
                </a:cubicBezTo>
                <a:lnTo>
                  <a:pt x="45849" y="117059"/>
                </a:lnTo>
                <a:lnTo>
                  <a:pt x="114535" y="22631"/>
                </a:lnTo>
                <a:cubicBezTo>
                  <a:pt x="117588" y="18434"/>
                  <a:pt x="123458" y="17494"/>
                  <a:pt x="127656" y="2054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63" name="Text 61"/>
          <p:cNvSpPr/>
          <p:nvPr/>
        </p:nvSpPr>
        <p:spPr>
          <a:xfrm>
            <a:off x="6742619" y="4752814"/>
            <a:ext cx="230165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(Coefficient)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76635" y="4785689"/>
            <a:ext cx="131501" cy="150287"/>
          </a:xfrm>
          <a:custGeom>
            <a:avLst/>
            <a:gdLst/>
            <a:ahLst/>
            <a:cxnLst/>
            <a:rect l="l" t="t" r="r" b="b"/>
            <a:pathLst>
              <a:path w="131501" h="150287">
                <a:moveTo>
                  <a:pt x="127626" y="20576"/>
                </a:moveTo>
                <a:cubicBezTo>
                  <a:pt x="131824" y="23629"/>
                  <a:pt x="132763" y="29500"/>
                  <a:pt x="129710" y="33697"/>
                </a:cubicBezTo>
                <a:lnTo>
                  <a:pt x="54567" y="137019"/>
                </a:lnTo>
                <a:cubicBezTo>
                  <a:pt x="52953" y="139250"/>
                  <a:pt x="50458" y="140630"/>
                  <a:pt x="47698" y="140864"/>
                </a:cubicBezTo>
                <a:cubicBezTo>
                  <a:pt x="44939" y="141099"/>
                  <a:pt x="42268" y="140072"/>
                  <a:pt x="40331" y="138135"/>
                </a:cubicBezTo>
                <a:lnTo>
                  <a:pt x="2759" y="100563"/>
                </a:lnTo>
                <a:cubicBezTo>
                  <a:pt x="-910" y="96894"/>
                  <a:pt x="-910" y="90935"/>
                  <a:pt x="2759" y="87266"/>
                </a:cubicBezTo>
                <a:cubicBezTo>
                  <a:pt x="6428" y="83597"/>
                  <a:pt x="12387" y="83597"/>
                  <a:pt x="16056" y="87266"/>
                </a:cubicBezTo>
                <a:lnTo>
                  <a:pt x="45849" y="117059"/>
                </a:lnTo>
                <a:lnTo>
                  <a:pt x="114535" y="22631"/>
                </a:lnTo>
                <a:cubicBezTo>
                  <a:pt x="117588" y="18434"/>
                  <a:pt x="123458" y="17494"/>
                  <a:pt x="127656" y="2054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65" name="Text 63"/>
          <p:cNvSpPr/>
          <p:nvPr/>
        </p:nvSpPr>
        <p:spPr>
          <a:xfrm>
            <a:off x="9264103" y="4752814"/>
            <a:ext cx="230165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212311" y="5490157"/>
            <a:ext cx="5598176" cy="1361972"/>
          </a:xfrm>
          <a:custGeom>
            <a:avLst/>
            <a:gdLst/>
            <a:ahLst/>
            <a:cxnLst/>
            <a:rect l="l" t="t" r="r" b="b"/>
            <a:pathLst>
              <a:path w="5598176" h="1361972">
                <a:moveTo>
                  <a:pt x="75140" y="0"/>
                </a:moveTo>
                <a:lnTo>
                  <a:pt x="5523036" y="0"/>
                </a:lnTo>
                <a:cubicBezTo>
                  <a:pt x="5564507" y="0"/>
                  <a:pt x="5598176" y="33669"/>
                  <a:pt x="5598176" y="75140"/>
                </a:cubicBezTo>
                <a:lnTo>
                  <a:pt x="5598176" y="1286832"/>
                </a:lnTo>
                <a:cubicBezTo>
                  <a:pt x="5598176" y="1328331"/>
                  <a:pt x="5564534" y="1361972"/>
                  <a:pt x="5523036" y="1361972"/>
                </a:cubicBezTo>
                <a:lnTo>
                  <a:pt x="75140" y="1361972"/>
                </a:lnTo>
                <a:cubicBezTo>
                  <a:pt x="33669" y="1361972"/>
                  <a:pt x="0" y="1328303"/>
                  <a:pt x="0" y="1286832"/>
                </a:cubicBezTo>
                <a:lnTo>
                  <a:pt x="0" y="75140"/>
                </a:lnTo>
                <a:cubicBezTo>
                  <a:pt x="0" y="33669"/>
                  <a:pt x="33669" y="0"/>
                  <a:pt x="7514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11910" y="5692105"/>
            <a:ext cx="126804" cy="169072"/>
          </a:xfrm>
          <a:custGeom>
            <a:avLst/>
            <a:gdLst/>
            <a:ahLst/>
            <a:cxnLst/>
            <a:rect l="l" t="t" r="r" b="b"/>
            <a:pathLst>
              <a:path w="126804" h="169072">
                <a:moveTo>
                  <a:pt x="96721" y="126804"/>
                </a:moveTo>
                <a:cubicBezTo>
                  <a:pt x="99132" y="119440"/>
                  <a:pt x="103953" y="112770"/>
                  <a:pt x="109402" y="107024"/>
                </a:cubicBezTo>
                <a:cubicBezTo>
                  <a:pt x="120200" y="95665"/>
                  <a:pt x="126804" y="80309"/>
                  <a:pt x="126804" y="63402"/>
                </a:cubicBezTo>
                <a:cubicBezTo>
                  <a:pt x="126804" y="28399"/>
                  <a:pt x="98405" y="0"/>
                  <a:pt x="63402" y="0"/>
                </a:cubicBezTo>
                <a:cubicBezTo>
                  <a:pt x="28399" y="0"/>
                  <a:pt x="0" y="28399"/>
                  <a:pt x="0" y="63402"/>
                </a:cubicBezTo>
                <a:cubicBezTo>
                  <a:pt x="0" y="80309"/>
                  <a:pt x="6604" y="95665"/>
                  <a:pt x="17403" y="107024"/>
                </a:cubicBezTo>
                <a:cubicBezTo>
                  <a:pt x="22851" y="112770"/>
                  <a:pt x="27705" y="119440"/>
                  <a:pt x="30083" y="126804"/>
                </a:cubicBezTo>
                <a:lnTo>
                  <a:pt x="96688" y="126804"/>
                </a:lnTo>
                <a:close/>
                <a:moveTo>
                  <a:pt x="95103" y="142655"/>
                </a:moveTo>
                <a:lnTo>
                  <a:pt x="31701" y="142655"/>
                </a:lnTo>
                <a:lnTo>
                  <a:pt x="31701" y="147938"/>
                </a:lnTo>
                <a:cubicBezTo>
                  <a:pt x="31701" y="162534"/>
                  <a:pt x="43523" y="174356"/>
                  <a:pt x="58119" y="174356"/>
                </a:cubicBezTo>
                <a:lnTo>
                  <a:pt x="68686" y="174356"/>
                </a:lnTo>
                <a:cubicBezTo>
                  <a:pt x="83281" y="174356"/>
                  <a:pt x="95103" y="162534"/>
                  <a:pt x="95103" y="147938"/>
                </a:cubicBezTo>
                <a:lnTo>
                  <a:pt x="95103" y="142655"/>
                </a:lnTo>
                <a:close/>
                <a:moveTo>
                  <a:pt x="60760" y="36985"/>
                </a:moveTo>
                <a:cubicBezTo>
                  <a:pt x="47618" y="36985"/>
                  <a:pt x="36985" y="47618"/>
                  <a:pt x="36985" y="60760"/>
                </a:cubicBezTo>
                <a:cubicBezTo>
                  <a:pt x="36985" y="65152"/>
                  <a:pt x="33451" y="68686"/>
                  <a:pt x="29059" y="68686"/>
                </a:cubicBezTo>
                <a:cubicBezTo>
                  <a:pt x="24667" y="68686"/>
                  <a:pt x="21134" y="65152"/>
                  <a:pt x="21134" y="60760"/>
                </a:cubicBezTo>
                <a:cubicBezTo>
                  <a:pt x="21134" y="38867"/>
                  <a:pt x="38867" y="21134"/>
                  <a:pt x="60760" y="21134"/>
                </a:cubicBezTo>
                <a:cubicBezTo>
                  <a:pt x="65152" y="21134"/>
                  <a:pt x="68686" y="24667"/>
                  <a:pt x="68686" y="29059"/>
                </a:cubicBezTo>
                <a:cubicBezTo>
                  <a:pt x="68686" y="33451"/>
                  <a:pt x="65152" y="36985"/>
                  <a:pt x="60760" y="36985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8" name="Text 66"/>
          <p:cNvSpPr/>
          <p:nvPr/>
        </p:nvSpPr>
        <p:spPr>
          <a:xfrm>
            <a:off x="6583331" y="5645140"/>
            <a:ext cx="5156709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Applications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423651" y="6016160"/>
            <a:ext cx="75143" cy="150287"/>
          </a:xfrm>
          <a:custGeom>
            <a:avLst/>
            <a:gdLst/>
            <a:ahLst/>
            <a:cxnLst/>
            <a:rect l="l" t="t" r="r" b="b"/>
            <a:pathLst>
              <a:path w="75143" h="150287">
                <a:moveTo>
                  <a:pt x="72531" y="68510"/>
                </a:moveTo>
                <a:cubicBezTo>
                  <a:pt x="76200" y="72179"/>
                  <a:pt x="76200" y="78137"/>
                  <a:pt x="72531" y="81806"/>
                </a:cubicBezTo>
                <a:lnTo>
                  <a:pt x="25566" y="128771"/>
                </a:lnTo>
                <a:cubicBezTo>
                  <a:pt x="21897" y="132440"/>
                  <a:pt x="15939" y="132440"/>
                  <a:pt x="12269" y="128771"/>
                </a:cubicBezTo>
                <a:cubicBezTo>
                  <a:pt x="8600" y="125102"/>
                  <a:pt x="8600" y="119143"/>
                  <a:pt x="12269" y="115474"/>
                </a:cubicBezTo>
                <a:lnTo>
                  <a:pt x="52600" y="75143"/>
                </a:lnTo>
                <a:lnTo>
                  <a:pt x="12299" y="34812"/>
                </a:lnTo>
                <a:cubicBezTo>
                  <a:pt x="8630" y="31143"/>
                  <a:pt x="8630" y="25185"/>
                  <a:pt x="12299" y="21516"/>
                </a:cubicBezTo>
                <a:cubicBezTo>
                  <a:pt x="15968" y="17847"/>
                  <a:pt x="21927" y="17847"/>
                  <a:pt x="25596" y="21516"/>
                </a:cubicBezTo>
                <a:lnTo>
                  <a:pt x="72560" y="6848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0" name="Text 68"/>
          <p:cNvSpPr/>
          <p:nvPr/>
        </p:nvSpPr>
        <p:spPr>
          <a:xfrm>
            <a:off x="6610728" y="5983285"/>
            <a:ext cx="5119919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Threat Detection:</a:t>
            </a:r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 classification models for immediate security alerts.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423651" y="6504592"/>
            <a:ext cx="75143" cy="150287"/>
          </a:xfrm>
          <a:custGeom>
            <a:avLst/>
            <a:gdLst/>
            <a:ahLst/>
            <a:cxnLst/>
            <a:rect l="l" t="t" r="r" b="b"/>
            <a:pathLst>
              <a:path w="75143" h="150287">
                <a:moveTo>
                  <a:pt x="72531" y="68510"/>
                </a:moveTo>
                <a:cubicBezTo>
                  <a:pt x="76200" y="72179"/>
                  <a:pt x="76200" y="78137"/>
                  <a:pt x="72531" y="81806"/>
                </a:cubicBezTo>
                <a:lnTo>
                  <a:pt x="25566" y="128771"/>
                </a:lnTo>
                <a:cubicBezTo>
                  <a:pt x="21897" y="132440"/>
                  <a:pt x="15939" y="132440"/>
                  <a:pt x="12269" y="128771"/>
                </a:cubicBezTo>
                <a:cubicBezTo>
                  <a:pt x="8600" y="125102"/>
                  <a:pt x="8600" y="119143"/>
                  <a:pt x="12269" y="115474"/>
                </a:cubicBezTo>
                <a:lnTo>
                  <a:pt x="52600" y="75143"/>
                </a:lnTo>
                <a:lnTo>
                  <a:pt x="12299" y="34812"/>
                </a:lnTo>
                <a:cubicBezTo>
                  <a:pt x="8630" y="31143"/>
                  <a:pt x="8630" y="25185"/>
                  <a:pt x="12299" y="21516"/>
                </a:cubicBezTo>
                <a:cubicBezTo>
                  <a:pt x="15968" y="17847"/>
                  <a:pt x="21927" y="17847"/>
                  <a:pt x="25596" y="21516"/>
                </a:cubicBezTo>
                <a:lnTo>
                  <a:pt x="72560" y="6848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2" name="Text 70"/>
          <p:cNvSpPr/>
          <p:nvPr/>
        </p:nvSpPr>
        <p:spPr>
          <a:xfrm>
            <a:off x="6610728" y="6471716"/>
            <a:ext cx="511991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Monitoring:</a:t>
            </a:r>
            <a:pPr>
              <a:lnSpc>
                <a:spcPct val="120000"/>
              </a:lnSpc>
            </a:pPr>
            <a:r>
              <a:rPr lang="en-US" sz="1183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regression residuals as anomaly indicators.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Methodological Rigor &amp; Data Integrity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3695700" cy="3533775"/>
          </a:xfrm>
          <a:custGeom>
            <a:avLst/>
            <a:gdLst/>
            <a:ahLst/>
            <a:cxnLst/>
            <a:rect l="l" t="t" r="r" b="b"/>
            <a:pathLst>
              <a:path w="3695700" h="3533775">
                <a:moveTo>
                  <a:pt x="76188" y="0"/>
                </a:moveTo>
                <a:lnTo>
                  <a:pt x="3619512" y="0"/>
                </a:lnTo>
                <a:cubicBezTo>
                  <a:pt x="3661589" y="0"/>
                  <a:pt x="3695700" y="34111"/>
                  <a:pt x="3695700" y="76188"/>
                </a:cubicBezTo>
                <a:lnTo>
                  <a:pt x="3695700" y="3457587"/>
                </a:lnTo>
                <a:cubicBezTo>
                  <a:pt x="3695700" y="3499664"/>
                  <a:pt x="3661589" y="3533775"/>
                  <a:pt x="3619512" y="3533775"/>
                </a:cubicBezTo>
                <a:lnTo>
                  <a:pt x="76188" y="3533775"/>
                </a:lnTo>
                <a:cubicBezTo>
                  <a:pt x="34111" y="3533775"/>
                  <a:pt x="0" y="3499664"/>
                  <a:pt x="0" y="34575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Text 5"/>
          <p:cNvSpPr/>
          <p:nvPr/>
        </p:nvSpPr>
        <p:spPr>
          <a:xfrm>
            <a:off x="500063" y="1533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0125" y="1590675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Memory-Efficient Loading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028825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3+1 file approach streams large dataset files to manage memory.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990850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38098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952502"/>
                </a:lnTo>
                <a:cubicBezTo>
                  <a:pt x="3381375" y="973543"/>
                  <a:pt x="3364318" y="990600"/>
                  <a:pt x="3343277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7225" y="31051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16125" y="31051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Files 1-3 (~2.1M)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33718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Holdout: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16125" y="33718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4 (~440K)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225" y="36385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Sample: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16125" y="36385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50K records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1975" y="45577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52437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Holdout data is untouched.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6513" y="1376363"/>
            <a:ext cx="3695700" cy="3533775"/>
          </a:xfrm>
          <a:custGeom>
            <a:avLst/>
            <a:gdLst/>
            <a:ahLst/>
            <a:cxnLst/>
            <a:rect l="l" t="t" r="r" b="b"/>
            <a:pathLst>
              <a:path w="3695700" h="3533775">
                <a:moveTo>
                  <a:pt x="76188" y="0"/>
                </a:moveTo>
                <a:lnTo>
                  <a:pt x="3619512" y="0"/>
                </a:lnTo>
                <a:cubicBezTo>
                  <a:pt x="3661589" y="0"/>
                  <a:pt x="3695700" y="34111"/>
                  <a:pt x="3695700" y="76188"/>
                </a:cubicBezTo>
                <a:lnTo>
                  <a:pt x="3695700" y="3457587"/>
                </a:lnTo>
                <a:cubicBezTo>
                  <a:pt x="3695700" y="3499664"/>
                  <a:pt x="3661589" y="3533775"/>
                  <a:pt x="3619512" y="3533775"/>
                </a:cubicBezTo>
                <a:lnTo>
                  <a:pt x="76188" y="3533775"/>
                </a:lnTo>
                <a:cubicBezTo>
                  <a:pt x="34111" y="3533775"/>
                  <a:pt x="0" y="3499664"/>
                  <a:pt x="0" y="34575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3675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4360813" y="1533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0875" y="1590675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 Detection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03675" y="2028825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highlight>
                  <a:srgbClr val="6B72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22.02%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 rate in training data.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3675" y="2867025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38098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952502"/>
                </a:lnTo>
                <a:cubicBezTo>
                  <a:pt x="3381375" y="973543"/>
                  <a:pt x="3364318" y="990600"/>
                  <a:pt x="3343277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17975" y="2981325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95245" y="298132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110,072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17975" y="32480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Deduplicated: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19131" y="32480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85,839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17975" y="3514725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Sample: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37437" y="3514725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49,997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2725" y="45577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E5E7EB">
              <a:alpha val="7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622750" y="452437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Duplicates can inflate performance.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7338" y="1376363"/>
            <a:ext cx="3695700" cy="3533775"/>
          </a:xfrm>
          <a:custGeom>
            <a:avLst/>
            <a:gdLst/>
            <a:ahLst/>
            <a:cxnLst/>
            <a:rect l="l" t="t" r="r" b="b"/>
            <a:pathLst>
              <a:path w="3695700" h="3533775">
                <a:moveTo>
                  <a:pt x="76188" y="0"/>
                </a:moveTo>
                <a:lnTo>
                  <a:pt x="3619512" y="0"/>
                </a:lnTo>
                <a:cubicBezTo>
                  <a:pt x="3661589" y="0"/>
                  <a:pt x="3695700" y="34111"/>
                  <a:pt x="3695700" y="76188"/>
                </a:cubicBezTo>
                <a:lnTo>
                  <a:pt x="3695700" y="3457587"/>
                </a:lnTo>
                <a:cubicBezTo>
                  <a:pt x="3695700" y="3499664"/>
                  <a:pt x="3661589" y="3533775"/>
                  <a:pt x="3619512" y="3533775"/>
                </a:cubicBezTo>
                <a:lnTo>
                  <a:pt x="76188" y="3533775"/>
                </a:lnTo>
                <a:cubicBezTo>
                  <a:pt x="34111" y="3533775"/>
                  <a:pt x="0" y="3499664"/>
                  <a:pt x="0" y="34575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64500" y="1533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5" name="Text 33"/>
          <p:cNvSpPr/>
          <p:nvPr/>
        </p:nvSpPr>
        <p:spPr>
          <a:xfrm>
            <a:off x="8221638" y="1533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21700" y="1590675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Leakage Prevention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64500" y="2028825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Review: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Multi-stage analysis to identify and remove features that leak target information.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4500" y="2990850"/>
            <a:ext cx="3381375" cy="990600"/>
          </a:xfrm>
          <a:custGeom>
            <a:avLst/>
            <a:gdLst/>
            <a:ahLst/>
            <a:cxnLst/>
            <a:rect l="l" t="t" r="r" b="b"/>
            <a:pathLst>
              <a:path w="3381375" h="990600">
                <a:moveTo>
                  <a:pt x="38098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952502"/>
                </a:lnTo>
                <a:cubicBezTo>
                  <a:pt x="3381375" y="973543"/>
                  <a:pt x="3364318" y="990600"/>
                  <a:pt x="3343277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378800" y="310515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Stime, Ltime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78800" y="337185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 &gt; 0.95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78800" y="363855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Suspicious names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3550" y="45577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5E7EB">
              <a:alpha val="7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83575" y="4524375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review confirmed 3 removals.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5072063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76198" y="0"/>
                </a:moveTo>
                <a:lnTo>
                  <a:pt x="5553077" y="0"/>
                </a:lnTo>
                <a:cubicBezTo>
                  <a:pt x="5595160" y="0"/>
                  <a:pt x="5629275" y="34115"/>
                  <a:pt x="5629275" y="76198"/>
                </a:cubicBezTo>
                <a:lnTo>
                  <a:pt x="5629275" y="1323977"/>
                </a:lnTo>
                <a:cubicBezTo>
                  <a:pt x="5629275" y="1366060"/>
                  <a:pt x="5595160" y="1400175"/>
                  <a:pt x="55530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6B7280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738" y="52768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4724" y="3148"/>
                </a:moveTo>
                <a:cubicBezTo>
                  <a:pt x="110538" y="-1038"/>
                  <a:pt x="103741" y="-1038"/>
                  <a:pt x="99555" y="3148"/>
                </a:cubicBezTo>
                <a:cubicBezTo>
                  <a:pt x="95369" y="7334"/>
                  <a:pt x="95369" y="14131"/>
                  <a:pt x="99555" y="18317"/>
                </a:cubicBezTo>
                <a:lnTo>
                  <a:pt x="102703" y="21431"/>
                </a:lnTo>
                <a:lnTo>
                  <a:pt x="9410" y="114724"/>
                </a:lnTo>
                <a:cubicBezTo>
                  <a:pt x="3382" y="120752"/>
                  <a:pt x="0" y="128922"/>
                  <a:pt x="0" y="137461"/>
                </a:cubicBezTo>
                <a:lnTo>
                  <a:pt x="0" y="139303"/>
                </a:lnTo>
                <a:cubicBezTo>
                  <a:pt x="0" y="157051"/>
                  <a:pt x="14399" y="171450"/>
                  <a:pt x="32147" y="171450"/>
                </a:cubicBezTo>
                <a:lnTo>
                  <a:pt x="33989" y="171450"/>
                </a:lnTo>
                <a:cubicBezTo>
                  <a:pt x="42528" y="171450"/>
                  <a:pt x="50698" y="168068"/>
                  <a:pt x="56726" y="162040"/>
                </a:cubicBezTo>
                <a:lnTo>
                  <a:pt x="150019" y="68747"/>
                </a:lnTo>
                <a:lnTo>
                  <a:pt x="153166" y="71895"/>
                </a:lnTo>
                <a:cubicBezTo>
                  <a:pt x="157352" y="76081"/>
                  <a:pt x="164150" y="76081"/>
                  <a:pt x="168336" y="71895"/>
                </a:cubicBezTo>
                <a:cubicBezTo>
                  <a:pt x="172522" y="67709"/>
                  <a:pt x="172522" y="60912"/>
                  <a:pt x="168336" y="56726"/>
                </a:cubicBezTo>
                <a:lnTo>
                  <a:pt x="114758" y="3148"/>
                </a:lnTo>
                <a:close/>
                <a:moveTo>
                  <a:pt x="68747" y="85725"/>
                </a:moveTo>
                <a:lnTo>
                  <a:pt x="117872" y="36601"/>
                </a:lnTo>
                <a:lnTo>
                  <a:pt x="134849" y="53578"/>
                </a:lnTo>
                <a:lnTo>
                  <a:pt x="102703" y="85725"/>
                </a:lnTo>
                <a:lnTo>
                  <a:pt x="68714" y="85725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6" name="Text 44"/>
          <p:cNvSpPr/>
          <p:nvPr/>
        </p:nvSpPr>
        <p:spPr>
          <a:xfrm>
            <a:off x="762000" y="52292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Cross-Validation Strategy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2925" y="557212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Setup: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5-fold CV on training data for model selection, with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highlight>
                  <a:srgbClr val="6B728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stratified sampling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maintain class distribution, ensuring unbiased error estimation before holdout validation.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6963" y="5072063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76198" y="0"/>
                </a:moveTo>
                <a:lnTo>
                  <a:pt x="5553077" y="0"/>
                </a:lnTo>
                <a:cubicBezTo>
                  <a:pt x="5595160" y="0"/>
                  <a:pt x="5629275" y="34115"/>
                  <a:pt x="5629275" y="76198"/>
                </a:cubicBezTo>
                <a:lnTo>
                  <a:pt x="5629275" y="1323977"/>
                </a:lnTo>
                <a:cubicBezTo>
                  <a:pt x="5629275" y="1366060"/>
                  <a:pt x="5595160" y="1400175"/>
                  <a:pt x="55530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68653" y="52768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0"/>
                </a:moveTo>
                <a:lnTo>
                  <a:pt x="42863" y="0"/>
                </a:lnTo>
                <a:cubicBezTo>
                  <a:pt x="36935" y="0"/>
                  <a:pt x="32147" y="4789"/>
                  <a:pt x="32147" y="10716"/>
                </a:cubicBezTo>
                <a:cubicBezTo>
                  <a:pt x="32147" y="16643"/>
                  <a:pt x="36935" y="21431"/>
                  <a:pt x="42863" y="21431"/>
                </a:cubicBezTo>
                <a:lnTo>
                  <a:pt x="42863" y="72163"/>
                </a:lnTo>
                <a:lnTo>
                  <a:pt x="2511" y="142752"/>
                </a:lnTo>
                <a:cubicBezTo>
                  <a:pt x="871" y="145666"/>
                  <a:pt x="0" y="148914"/>
                  <a:pt x="0" y="152262"/>
                </a:cubicBezTo>
                <a:cubicBezTo>
                  <a:pt x="0" y="162878"/>
                  <a:pt x="8573" y="171450"/>
                  <a:pt x="19188" y="171450"/>
                </a:cubicBezTo>
                <a:lnTo>
                  <a:pt x="130831" y="171450"/>
                </a:lnTo>
                <a:cubicBezTo>
                  <a:pt x="141413" y="171450"/>
                  <a:pt x="150019" y="162878"/>
                  <a:pt x="150019" y="152262"/>
                </a:cubicBezTo>
                <a:cubicBezTo>
                  <a:pt x="150019" y="148914"/>
                  <a:pt x="149148" y="145632"/>
                  <a:pt x="147507" y="142752"/>
                </a:cubicBezTo>
                <a:lnTo>
                  <a:pt x="107156" y="72163"/>
                </a:lnTo>
                <a:lnTo>
                  <a:pt x="107156" y="21431"/>
                </a:lnTo>
                <a:cubicBezTo>
                  <a:pt x="113083" y="21431"/>
                  <a:pt x="117872" y="16643"/>
                  <a:pt x="117872" y="10716"/>
                </a:cubicBezTo>
                <a:cubicBezTo>
                  <a:pt x="117872" y="4789"/>
                  <a:pt x="113083" y="0"/>
                  <a:pt x="107156" y="0"/>
                </a:cubicBezTo>
                <a:lnTo>
                  <a:pt x="96441" y="0"/>
                </a:lnTo>
                <a:close/>
                <a:moveTo>
                  <a:pt x="64294" y="72163"/>
                </a:moveTo>
                <a:lnTo>
                  <a:pt x="64294" y="21431"/>
                </a:lnTo>
                <a:lnTo>
                  <a:pt x="85725" y="21431"/>
                </a:lnTo>
                <a:lnTo>
                  <a:pt x="85725" y="72163"/>
                </a:lnTo>
                <a:cubicBezTo>
                  <a:pt x="85725" y="75880"/>
                  <a:pt x="86696" y="79564"/>
                  <a:pt x="88538" y="82812"/>
                </a:cubicBezTo>
                <a:lnTo>
                  <a:pt x="102468" y="107156"/>
                </a:lnTo>
                <a:lnTo>
                  <a:pt x="47551" y="107156"/>
                </a:lnTo>
                <a:lnTo>
                  <a:pt x="61481" y="82812"/>
                </a:lnTo>
                <a:cubicBezTo>
                  <a:pt x="63323" y="79564"/>
                  <a:pt x="64294" y="75914"/>
                  <a:pt x="64294" y="72163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0" name="Text 48"/>
          <p:cNvSpPr/>
          <p:nvPr/>
        </p:nvSpPr>
        <p:spPr>
          <a:xfrm>
            <a:off x="6553200" y="52292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Holdout Validation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34125" y="557212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Test: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 4 (10K samples) provides a true generalization estimate. The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highlight>
                  <a:srgbClr val="A0AE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 overlapping records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 represent minimal leakage (0.6%), confirming data separation integrity.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wardsdatascience.com/935b242cc15e84532b25d3f9ecf04a1c02386b8f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7994" b="1799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3D4A5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590675"/>
            <a:ext cx="1647825" cy="419100"/>
          </a:xfrm>
          <a:custGeom>
            <a:avLst/>
            <a:gdLst/>
            <a:ahLst/>
            <a:cxnLst/>
            <a:rect l="l" t="t" r="r" b="b"/>
            <a:pathLst>
              <a:path w="1647825" h="419100">
                <a:moveTo>
                  <a:pt x="0" y="0"/>
                </a:moveTo>
                <a:lnTo>
                  <a:pt x="1647825" y="0"/>
                </a:lnTo>
                <a:lnTo>
                  <a:pt x="16478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7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5906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66687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383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Characteristics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Preprocessing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81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UNSW-NB15 dataset features and comprehensive data preparation pipeline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2292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302" y="327302"/>
            <a:ext cx="1160285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spc="52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302" y="589144"/>
            <a:ext cx="11684682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9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UNSW-NB15 Dataset Profile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7302" y="1014636"/>
            <a:ext cx="785525" cy="32730"/>
          </a:xfrm>
          <a:custGeom>
            <a:avLst/>
            <a:gdLst/>
            <a:ahLst/>
            <a:cxn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31393" y="1182379"/>
            <a:ext cx="4508585" cy="3281203"/>
          </a:xfrm>
          <a:custGeom>
            <a:avLst/>
            <a:gdLst/>
            <a:ahLst/>
            <a:cxnLst/>
            <a:rect l="l" t="t" r="r" b="b"/>
            <a:pathLst>
              <a:path w="4508585" h="3281203">
                <a:moveTo>
                  <a:pt x="65460" y="0"/>
                </a:moveTo>
                <a:lnTo>
                  <a:pt x="4443125" y="0"/>
                </a:lnTo>
                <a:cubicBezTo>
                  <a:pt x="4479278" y="0"/>
                  <a:pt x="4508585" y="29307"/>
                  <a:pt x="4508585" y="65460"/>
                </a:cubicBezTo>
                <a:lnTo>
                  <a:pt x="4508585" y="3215743"/>
                </a:lnTo>
                <a:cubicBezTo>
                  <a:pt x="4508585" y="3251895"/>
                  <a:pt x="4479278" y="3281203"/>
                  <a:pt x="4443125" y="3281203"/>
                </a:cubicBezTo>
                <a:lnTo>
                  <a:pt x="65460" y="3281203"/>
                </a:lnTo>
                <a:cubicBezTo>
                  <a:pt x="29307" y="3281203"/>
                  <a:pt x="0" y="3251895"/>
                  <a:pt x="0" y="3215743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7090" y="1350121"/>
            <a:ext cx="143195" cy="163651"/>
          </a:xfrm>
          <a:custGeom>
            <a:avLst/>
            <a:gdLst/>
            <a:ahLst/>
            <a:cxnLst/>
            <a:rect l="l" t="t" r="r" b="b"/>
            <a:pathLst>
              <a:path w="143195" h="163651">
                <a:moveTo>
                  <a:pt x="143195" y="65780"/>
                </a:moveTo>
                <a:cubicBezTo>
                  <a:pt x="138464" y="68912"/>
                  <a:pt x="133030" y="71437"/>
                  <a:pt x="127373" y="73451"/>
                </a:cubicBezTo>
                <a:cubicBezTo>
                  <a:pt x="112350" y="78821"/>
                  <a:pt x="92629" y="81826"/>
                  <a:pt x="71597" y="81826"/>
                </a:cubicBezTo>
                <a:cubicBezTo>
                  <a:pt x="50566" y="81826"/>
                  <a:pt x="30812" y="78789"/>
                  <a:pt x="15822" y="73451"/>
                </a:cubicBezTo>
                <a:cubicBezTo>
                  <a:pt x="10196" y="71437"/>
                  <a:pt x="4731" y="68912"/>
                  <a:pt x="0" y="65780"/>
                </a:cubicBezTo>
                <a:lnTo>
                  <a:pt x="0" y="92054"/>
                </a:lnTo>
                <a:cubicBezTo>
                  <a:pt x="0" y="106181"/>
                  <a:pt x="32059" y="117624"/>
                  <a:pt x="71597" y="117624"/>
                </a:cubicBezTo>
                <a:cubicBezTo>
                  <a:pt x="111136" y="117624"/>
                  <a:pt x="143195" y="106181"/>
                  <a:pt x="143195" y="92054"/>
                </a:cubicBezTo>
                <a:lnTo>
                  <a:pt x="143195" y="65780"/>
                </a:lnTo>
                <a:close/>
                <a:moveTo>
                  <a:pt x="143195" y="40913"/>
                </a:moveTo>
                <a:lnTo>
                  <a:pt x="143195" y="25570"/>
                </a:lnTo>
                <a:cubicBezTo>
                  <a:pt x="143195" y="11443"/>
                  <a:pt x="111136" y="0"/>
                  <a:pt x="71597" y="0"/>
                </a:cubicBezTo>
                <a:cubicBezTo>
                  <a:pt x="32059" y="0"/>
                  <a:pt x="0" y="11443"/>
                  <a:pt x="0" y="25570"/>
                </a:cubicBezTo>
                <a:lnTo>
                  <a:pt x="0" y="40913"/>
                </a:lnTo>
                <a:cubicBezTo>
                  <a:pt x="0" y="55040"/>
                  <a:pt x="32059" y="66483"/>
                  <a:pt x="71597" y="66483"/>
                </a:cubicBezTo>
                <a:cubicBezTo>
                  <a:pt x="111136" y="66483"/>
                  <a:pt x="143195" y="55040"/>
                  <a:pt x="143195" y="40913"/>
                </a:cubicBezTo>
                <a:close/>
                <a:moveTo>
                  <a:pt x="127373" y="124592"/>
                </a:moveTo>
                <a:cubicBezTo>
                  <a:pt x="112382" y="129930"/>
                  <a:pt x="92661" y="132966"/>
                  <a:pt x="71597" y="132966"/>
                </a:cubicBezTo>
                <a:cubicBezTo>
                  <a:pt x="50534" y="132966"/>
                  <a:pt x="30812" y="129930"/>
                  <a:pt x="15822" y="124592"/>
                </a:cubicBezTo>
                <a:cubicBezTo>
                  <a:pt x="10196" y="122578"/>
                  <a:pt x="4731" y="120053"/>
                  <a:pt x="0" y="116921"/>
                </a:cubicBezTo>
                <a:lnTo>
                  <a:pt x="0" y="138081"/>
                </a:lnTo>
                <a:cubicBezTo>
                  <a:pt x="0" y="152208"/>
                  <a:pt x="32059" y="163651"/>
                  <a:pt x="71597" y="163651"/>
                </a:cubicBezTo>
                <a:cubicBezTo>
                  <a:pt x="111136" y="163651"/>
                  <a:pt x="143195" y="152208"/>
                  <a:pt x="143195" y="138081"/>
                </a:cubicBezTo>
                <a:lnTo>
                  <a:pt x="143195" y="116921"/>
                </a:lnTo>
                <a:cubicBezTo>
                  <a:pt x="138464" y="120053"/>
                  <a:pt x="133030" y="122578"/>
                  <a:pt x="127373" y="124592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Text 5"/>
          <p:cNvSpPr/>
          <p:nvPr/>
        </p:nvSpPr>
        <p:spPr>
          <a:xfrm>
            <a:off x="670969" y="1317391"/>
            <a:ext cx="411582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Specifications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405" y="1644693"/>
            <a:ext cx="4238561" cy="850985"/>
          </a:xfrm>
          <a:custGeom>
            <a:avLst/>
            <a:gdLst/>
            <a:ahLst/>
            <a:cxnLst/>
            <a:rect l="l" t="t" r="r" b="b"/>
            <a:pathLst>
              <a:path w="4238561" h="850985">
                <a:moveTo>
                  <a:pt x="32729" y="0"/>
                </a:moveTo>
                <a:lnTo>
                  <a:pt x="4205832" y="0"/>
                </a:lnTo>
                <a:cubicBezTo>
                  <a:pt x="4223908" y="0"/>
                  <a:pt x="4238561" y="14653"/>
                  <a:pt x="4238561" y="32729"/>
                </a:cubicBezTo>
                <a:lnTo>
                  <a:pt x="4238561" y="818256"/>
                </a:lnTo>
                <a:cubicBezTo>
                  <a:pt x="4238561" y="836332"/>
                  <a:pt x="4223908" y="850985"/>
                  <a:pt x="4205832" y="850985"/>
                </a:cubicBezTo>
                <a:lnTo>
                  <a:pt x="32729" y="850985"/>
                </a:lnTo>
                <a:cubicBezTo>
                  <a:pt x="14653" y="850985"/>
                  <a:pt x="0" y="836332"/>
                  <a:pt x="0" y="818256"/>
                </a:cubicBezTo>
                <a:lnTo>
                  <a:pt x="0" y="32729"/>
                </a:lnTo>
                <a:cubicBezTo>
                  <a:pt x="0" y="14665"/>
                  <a:pt x="14665" y="0"/>
                  <a:pt x="3272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4596" y="1742883"/>
            <a:ext cx="410764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4596" y="1971995"/>
            <a:ext cx="4140370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~2.5 Million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4596" y="2233836"/>
            <a:ext cx="409945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across 4 CSV files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405" y="2561138"/>
            <a:ext cx="4238561" cy="850985"/>
          </a:xfrm>
          <a:custGeom>
            <a:avLst/>
            <a:gdLst/>
            <a:ahLst/>
            <a:cxnLst/>
            <a:rect l="l" t="t" r="r" b="b"/>
            <a:pathLst>
              <a:path w="4238561" h="850985">
                <a:moveTo>
                  <a:pt x="32729" y="0"/>
                </a:moveTo>
                <a:lnTo>
                  <a:pt x="4205832" y="0"/>
                </a:lnTo>
                <a:cubicBezTo>
                  <a:pt x="4223908" y="0"/>
                  <a:pt x="4238561" y="14653"/>
                  <a:pt x="4238561" y="32729"/>
                </a:cubicBezTo>
                <a:lnTo>
                  <a:pt x="4238561" y="818256"/>
                </a:lnTo>
                <a:cubicBezTo>
                  <a:pt x="4238561" y="836332"/>
                  <a:pt x="4223908" y="850985"/>
                  <a:pt x="4205832" y="850985"/>
                </a:cubicBezTo>
                <a:lnTo>
                  <a:pt x="32729" y="850985"/>
                </a:lnTo>
                <a:cubicBezTo>
                  <a:pt x="14653" y="850985"/>
                  <a:pt x="0" y="836332"/>
                  <a:pt x="0" y="818256"/>
                </a:cubicBezTo>
                <a:lnTo>
                  <a:pt x="0" y="32729"/>
                </a:lnTo>
                <a:cubicBezTo>
                  <a:pt x="0" y="14665"/>
                  <a:pt x="14665" y="0"/>
                  <a:pt x="3272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4596" y="2659329"/>
            <a:ext cx="410764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4596" y="2888440"/>
            <a:ext cx="4140370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49,997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4596" y="3150282"/>
            <a:ext cx="409945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deduplication &amp; stratified sampling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405" y="3477584"/>
            <a:ext cx="4238561" cy="850985"/>
          </a:xfrm>
          <a:custGeom>
            <a:avLst/>
            <a:gdLst/>
            <a:ahLst/>
            <a:cxnLst/>
            <a:rect l="l" t="t" r="r" b="b"/>
            <a:pathLst>
              <a:path w="4238561" h="850985">
                <a:moveTo>
                  <a:pt x="32729" y="0"/>
                </a:moveTo>
                <a:lnTo>
                  <a:pt x="4205832" y="0"/>
                </a:lnTo>
                <a:cubicBezTo>
                  <a:pt x="4223908" y="0"/>
                  <a:pt x="4238561" y="14653"/>
                  <a:pt x="4238561" y="32729"/>
                </a:cubicBezTo>
                <a:lnTo>
                  <a:pt x="4238561" y="818256"/>
                </a:lnTo>
                <a:cubicBezTo>
                  <a:pt x="4238561" y="836332"/>
                  <a:pt x="4223908" y="850985"/>
                  <a:pt x="4205832" y="850985"/>
                </a:cubicBezTo>
                <a:lnTo>
                  <a:pt x="32729" y="850985"/>
                </a:lnTo>
                <a:cubicBezTo>
                  <a:pt x="14653" y="850985"/>
                  <a:pt x="0" y="836332"/>
                  <a:pt x="0" y="818256"/>
                </a:cubicBezTo>
                <a:lnTo>
                  <a:pt x="0" y="32729"/>
                </a:lnTo>
                <a:cubicBezTo>
                  <a:pt x="0" y="14665"/>
                  <a:pt x="14665" y="0"/>
                  <a:pt x="3272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64596" y="3575774"/>
            <a:ext cx="410764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Holdout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4596" y="3804886"/>
            <a:ext cx="4140370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4596" y="4066728"/>
            <a:ext cx="4099458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Unseen File 4 samples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1393" y="4602685"/>
            <a:ext cx="4508585" cy="1448311"/>
          </a:xfrm>
          <a:custGeom>
            <a:avLst/>
            <a:gdLst/>
            <a:ahLst/>
            <a:cxnLst/>
            <a:rect l="l" t="t" r="r" b="b"/>
            <a:pathLst>
              <a:path w="4508585" h="1448311">
                <a:moveTo>
                  <a:pt x="65464" y="0"/>
                </a:moveTo>
                <a:lnTo>
                  <a:pt x="4443122" y="0"/>
                </a:lnTo>
                <a:cubicBezTo>
                  <a:pt x="4479276" y="0"/>
                  <a:pt x="4508585" y="29309"/>
                  <a:pt x="4508585" y="65464"/>
                </a:cubicBezTo>
                <a:lnTo>
                  <a:pt x="4508585" y="1382848"/>
                </a:lnTo>
                <a:cubicBezTo>
                  <a:pt x="4508585" y="1419002"/>
                  <a:pt x="4479276" y="1448311"/>
                  <a:pt x="4443122" y="1448311"/>
                </a:cubicBezTo>
                <a:lnTo>
                  <a:pt x="65464" y="1448311"/>
                </a:lnTo>
                <a:cubicBezTo>
                  <a:pt x="29309" y="1448311"/>
                  <a:pt x="0" y="1419002"/>
                  <a:pt x="0" y="1382848"/>
                </a:cubicBezTo>
                <a:lnTo>
                  <a:pt x="0" y="65464"/>
                </a:lnTo>
                <a:cubicBezTo>
                  <a:pt x="0" y="29333"/>
                  <a:pt x="29333" y="0"/>
                  <a:pt x="6546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405" y="4737697"/>
            <a:ext cx="431220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Evolution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405" y="5032268"/>
            <a:ext cx="540048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65416" y="5032268"/>
            <a:ext cx="20456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405" y="5261380"/>
            <a:ext cx="139103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Leakage Removal: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67206" y="5261380"/>
            <a:ext cx="20456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405" y="5490491"/>
            <a:ext cx="106373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Engineering: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63690" y="5490491"/>
            <a:ext cx="20456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405" y="5719603"/>
            <a:ext cx="924628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Selection: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52566" y="5719603"/>
            <a:ext cx="22092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11045" y="1182379"/>
            <a:ext cx="6848795" cy="5662325"/>
          </a:xfrm>
          <a:custGeom>
            <a:avLst/>
            <a:gdLst/>
            <a:ahLst/>
            <a:cxnLst/>
            <a:rect l="l" t="t" r="r" b="b"/>
            <a:pathLst>
              <a:path w="6848795" h="5662325">
                <a:moveTo>
                  <a:pt x="65456" y="0"/>
                </a:moveTo>
                <a:lnTo>
                  <a:pt x="6783338" y="0"/>
                </a:lnTo>
                <a:cubicBezTo>
                  <a:pt x="6819489" y="0"/>
                  <a:pt x="6848795" y="29306"/>
                  <a:pt x="6848795" y="65456"/>
                </a:cubicBezTo>
                <a:lnTo>
                  <a:pt x="6848795" y="5596868"/>
                </a:lnTo>
                <a:cubicBezTo>
                  <a:pt x="6848795" y="5633019"/>
                  <a:pt x="6819489" y="5662325"/>
                  <a:pt x="6783338" y="5662325"/>
                </a:cubicBezTo>
                <a:lnTo>
                  <a:pt x="65456" y="5662325"/>
                </a:lnTo>
                <a:cubicBezTo>
                  <a:pt x="29306" y="5662325"/>
                  <a:pt x="0" y="5633019"/>
                  <a:pt x="0" y="5596868"/>
                </a:cubicBezTo>
                <a:lnTo>
                  <a:pt x="0" y="65456"/>
                </a:lnTo>
                <a:cubicBezTo>
                  <a:pt x="0" y="29330"/>
                  <a:pt x="29330" y="0"/>
                  <a:pt x="6545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6057" y="1317391"/>
            <a:ext cx="6660596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Target Distribution</a:t>
            </a:r>
            <a:endParaRPr lang="en-US" sz="1600" dirty="0"/>
          </a:p>
        </p:txBody>
      </p:sp>
      <p:pic>
        <p:nvPicPr>
          <p:cNvPr id="32" name="Image 0" descr="https://kimi-img.moonshot.cn/pub/slides/26-01-26-07:24:07-d5rac5sqdqehnqg8s17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6057" y="1611962"/>
            <a:ext cx="5547769" cy="2127463"/>
          </a:xfrm>
          <a:prstGeom prst="roundRect">
            <a:avLst>
              <a:gd name="adj" fmla="val 0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5146057" y="3837616"/>
            <a:ext cx="3223925" cy="1211017"/>
          </a:xfrm>
          <a:custGeom>
            <a:avLst/>
            <a:gdLst/>
            <a:ahLst/>
            <a:cxnLst/>
            <a:rect l="l" t="t" r="r" b="b"/>
            <a:pathLst>
              <a:path w="3223925" h="1211017">
                <a:moveTo>
                  <a:pt x="32734" y="0"/>
                </a:moveTo>
                <a:lnTo>
                  <a:pt x="3191191" y="0"/>
                </a:lnTo>
                <a:cubicBezTo>
                  <a:pt x="3209269" y="0"/>
                  <a:pt x="3223925" y="14655"/>
                  <a:pt x="3223925" y="32734"/>
                </a:cubicBezTo>
                <a:lnTo>
                  <a:pt x="3223925" y="1178284"/>
                </a:lnTo>
                <a:cubicBezTo>
                  <a:pt x="3223925" y="1196362"/>
                  <a:pt x="3209269" y="1211017"/>
                  <a:pt x="3191191" y="1211017"/>
                </a:cubicBezTo>
                <a:lnTo>
                  <a:pt x="32734" y="1211017"/>
                </a:lnTo>
                <a:cubicBezTo>
                  <a:pt x="14655" y="1211017"/>
                  <a:pt x="0" y="1196362"/>
                  <a:pt x="0" y="1178284"/>
                </a:cubicBezTo>
                <a:lnTo>
                  <a:pt x="0" y="32734"/>
                </a:lnTo>
                <a:cubicBezTo>
                  <a:pt x="0" y="14655"/>
                  <a:pt x="14655" y="0"/>
                  <a:pt x="327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244248" y="3935807"/>
            <a:ext cx="309300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Classes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244248" y="4197648"/>
            <a:ext cx="515501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Normal: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339812" y="4197648"/>
            <a:ext cx="998271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47,506 (95.02%)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244248" y="4426760"/>
            <a:ext cx="458223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Attack: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529225" y="4426760"/>
            <a:ext cx="81007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2,491 (4.98%)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500327" y="3837616"/>
            <a:ext cx="3223925" cy="1211017"/>
          </a:xfrm>
          <a:custGeom>
            <a:avLst/>
            <a:gdLst/>
            <a:ahLst/>
            <a:cxnLst/>
            <a:rect l="l" t="t" r="r" b="b"/>
            <a:pathLst>
              <a:path w="3223925" h="1211017">
                <a:moveTo>
                  <a:pt x="32734" y="0"/>
                </a:moveTo>
                <a:lnTo>
                  <a:pt x="3191191" y="0"/>
                </a:lnTo>
                <a:cubicBezTo>
                  <a:pt x="3209269" y="0"/>
                  <a:pt x="3223925" y="14655"/>
                  <a:pt x="3223925" y="32734"/>
                </a:cubicBezTo>
                <a:lnTo>
                  <a:pt x="3223925" y="1178284"/>
                </a:lnTo>
                <a:cubicBezTo>
                  <a:pt x="3223925" y="1196362"/>
                  <a:pt x="3209269" y="1211017"/>
                  <a:pt x="3191191" y="1211017"/>
                </a:cubicBezTo>
                <a:lnTo>
                  <a:pt x="32734" y="1211017"/>
                </a:lnTo>
                <a:cubicBezTo>
                  <a:pt x="14655" y="1211017"/>
                  <a:pt x="0" y="1196362"/>
                  <a:pt x="0" y="1178284"/>
                </a:cubicBezTo>
                <a:lnTo>
                  <a:pt x="0" y="32734"/>
                </a:lnTo>
                <a:cubicBezTo>
                  <a:pt x="0" y="14655"/>
                  <a:pt x="14655" y="0"/>
                  <a:pt x="327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8598518" y="3935807"/>
            <a:ext cx="309300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Multi-Class Imbalance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598518" y="4197648"/>
            <a:ext cx="308482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Exploits: 659 (1.32%)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598518" y="4394030"/>
            <a:ext cx="308482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Generic: 604 (1.21%)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598518" y="4590411"/>
            <a:ext cx="308482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Fuzzers: 559 (1.12%)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598518" y="4786792"/>
            <a:ext cx="308482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Reconnaissance to Worms: 0.45% to 0.002%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31393" y="6953825"/>
            <a:ext cx="11529213" cy="695517"/>
          </a:xfrm>
          <a:custGeom>
            <a:avLst/>
            <a:gdLst/>
            <a:ahLst/>
            <a:cxnLst/>
            <a:rect l="l" t="t" r="r" b="b"/>
            <a:pathLst>
              <a:path w="11529213" h="695517">
                <a:moveTo>
                  <a:pt x="65462" y="0"/>
                </a:moveTo>
                <a:lnTo>
                  <a:pt x="11463751" y="0"/>
                </a:lnTo>
                <a:cubicBezTo>
                  <a:pt x="11499905" y="0"/>
                  <a:pt x="11529213" y="29308"/>
                  <a:pt x="11529213" y="65462"/>
                </a:cubicBezTo>
                <a:lnTo>
                  <a:pt x="11529213" y="630055"/>
                </a:lnTo>
                <a:cubicBezTo>
                  <a:pt x="11529213" y="666208"/>
                  <a:pt x="11499905" y="695517"/>
                  <a:pt x="11463751" y="695517"/>
                </a:cubicBezTo>
                <a:lnTo>
                  <a:pt x="65462" y="695517"/>
                </a:lnTo>
                <a:cubicBezTo>
                  <a:pt x="29333" y="695517"/>
                  <a:pt x="0" y="666184"/>
                  <a:pt x="0" y="630055"/>
                </a:cubicBezTo>
                <a:lnTo>
                  <a:pt x="0" y="65462"/>
                </a:lnTo>
                <a:cubicBezTo>
                  <a:pt x="0" y="29333"/>
                  <a:pt x="29333" y="0"/>
                  <a:pt x="6546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6B7280">
                <a:alpha val="4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33675" y="7056107"/>
            <a:ext cx="11398293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Categories (49 → 45 → 53 → 20)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433675" y="7350679"/>
            <a:ext cx="279843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 Statistics: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duration, bytes, packets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297056" y="7350679"/>
            <a:ext cx="279843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Info: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TCP, UDP, ICMP, state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160502" y="7350679"/>
            <a:ext cx="279843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Behavioral: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TTL, RTT, window sizes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023947" y="7350679"/>
            <a:ext cx="279843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Statistical: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jitter, load metrics, rates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914" y="317914"/>
            <a:ext cx="1161975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spc="5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PREPROCESSING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914" y="572245"/>
            <a:ext cx="11699233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3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&amp; Leakage Prevention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914" y="985533"/>
            <a:ext cx="762993" cy="31791"/>
          </a:xfrm>
          <a:custGeom>
            <a:avLst/>
            <a:gdLst/>
            <a:ahLst/>
            <a:cxnLst/>
            <a:rect l="l" t="t" r="r" b="b"/>
            <a:pathLst>
              <a:path w="762993" h="31791">
                <a:moveTo>
                  <a:pt x="0" y="0"/>
                </a:moveTo>
                <a:lnTo>
                  <a:pt x="762993" y="0"/>
                </a:lnTo>
                <a:lnTo>
                  <a:pt x="762993" y="31791"/>
                </a:lnTo>
                <a:lnTo>
                  <a:pt x="0" y="31791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21888" y="1148464"/>
            <a:ext cx="5706555" cy="1629309"/>
          </a:xfrm>
          <a:custGeom>
            <a:avLst/>
            <a:gdLst/>
            <a:ahLst/>
            <a:cxnLst/>
            <a:rect l="l" t="t" r="r" b="b"/>
            <a:pathLst>
              <a:path w="5706555" h="1629309">
                <a:moveTo>
                  <a:pt x="63576" y="0"/>
                </a:moveTo>
                <a:lnTo>
                  <a:pt x="5642980" y="0"/>
                </a:lnTo>
                <a:cubicBezTo>
                  <a:pt x="5678092" y="0"/>
                  <a:pt x="5706555" y="28464"/>
                  <a:pt x="5706555" y="63576"/>
                </a:cubicBezTo>
                <a:lnTo>
                  <a:pt x="5706555" y="1565733"/>
                </a:lnTo>
                <a:cubicBezTo>
                  <a:pt x="5706555" y="1600845"/>
                  <a:pt x="5678092" y="1629309"/>
                  <a:pt x="5642980" y="1629309"/>
                </a:cubicBezTo>
                <a:lnTo>
                  <a:pt x="63576" y="1629309"/>
                </a:lnTo>
                <a:cubicBezTo>
                  <a:pt x="28464" y="1629309"/>
                  <a:pt x="0" y="1600845"/>
                  <a:pt x="0" y="1565733"/>
                </a:cubicBezTo>
                <a:lnTo>
                  <a:pt x="0" y="63576"/>
                </a:lnTo>
                <a:cubicBezTo>
                  <a:pt x="0" y="28464"/>
                  <a:pt x="28464" y="0"/>
                  <a:pt x="6357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3027" y="1279604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158957" y="0"/>
                </a:moveTo>
                <a:lnTo>
                  <a:pt x="158957" y="0"/>
                </a:lnTo>
                <a:cubicBezTo>
                  <a:pt x="246746" y="0"/>
                  <a:pt x="317914" y="71167"/>
                  <a:pt x="317914" y="158957"/>
                </a:cubicBezTo>
                <a:lnTo>
                  <a:pt x="317914" y="158957"/>
                </a:lnTo>
                <a:cubicBezTo>
                  <a:pt x="317914" y="246746"/>
                  <a:pt x="246746" y="317914"/>
                  <a:pt x="158957" y="317914"/>
                </a:cubicBezTo>
                <a:lnTo>
                  <a:pt x="158957" y="317914"/>
                </a:lnTo>
                <a:cubicBezTo>
                  <a:pt x="71167" y="317914"/>
                  <a:pt x="0" y="246746"/>
                  <a:pt x="0" y="158957"/>
                </a:cubicBezTo>
                <a:lnTo>
                  <a:pt x="0" y="158957"/>
                </a:lnTo>
                <a:cubicBezTo>
                  <a:pt x="0" y="71167"/>
                  <a:pt x="71167" y="0"/>
                  <a:pt x="158957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Text 5"/>
          <p:cNvSpPr/>
          <p:nvPr/>
        </p:nvSpPr>
        <p:spPr>
          <a:xfrm>
            <a:off x="417262" y="1279604"/>
            <a:ext cx="389445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6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4524" y="1327291"/>
            <a:ext cx="1732631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Memory-Efficient Loading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3027" y="1661100"/>
            <a:ext cx="5507859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 processing of large CSV files with chunked reading and garbage collection to manage memory footprint (~28MB).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3027" y="2137971"/>
            <a:ext cx="5444276" cy="508662"/>
          </a:xfrm>
          <a:custGeom>
            <a:avLst/>
            <a:gdLst/>
            <a:ahLst/>
            <a:cxnLst/>
            <a:rect l="l" t="t" r="r" b="b"/>
            <a:pathLst>
              <a:path w="5444276" h="508662">
                <a:moveTo>
                  <a:pt x="31791" y="0"/>
                </a:moveTo>
                <a:lnTo>
                  <a:pt x="5412485" y="0"/>
                </a:lnTo>
                <a:cubicBezTo>
                  <a:pt x="5430043" y="0"/>
                  <a:pt x="5444276" y="14233"/>
                  <a:pt x="5444276" y="31791"/>
                </a:cubicBezTo>
                <a:lnTo>
                  <a:pt x="5444276" y="476871"/>
                </a:lnTo>
                <a:cubicBezTo>
                  <a:pt x="5444276" y="494429"/>
                  <a:pt x="5430043" y="508662"/>
                  <a:pt x="5412485" y="508662"/>
                </a:cubicBezTo>
                <a:lnTo>
                  <a:pt x="31791" y="508662"/>
                </a:lnTo>
                <a:cubicBezTo>
                  <a:pt x="14233" y="508662"/>
                  <a:pt x="0" y="494429"/>
                  <a:pt x="0" y="476871"/>
                </a:cubicBezTo>
                <a:lnTo>
                  <a:pt x="0" y="31791"/>
                </a:lnTo>
                <a:cubicBezTo>
                  <a:pt x="0" y="14245"/>
                  <a:pt x="14245" y="0"/>
                  <a:pt x="3179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6610" y="2201554"/>
            <a:ext cx="142266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 processed: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01277" y="2201554"/>
            <a:ext cx="397392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~2.5M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10" y="2392302"/>
            <a:ext cx="90605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usage: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58092" y="2392302"/>
            <a:ext cx="54045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28.34MB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888" y="2881095"/>
            <a:ext cx="5706555" cy="1883640"/>
          </a:xfrm>
          <a:custGeom>
            <a:avLst/>
            <a:gdLst/>
            <a:ahLst/>
            <a:cxnLst/>
            <a:rect l="l" t="t" r="r" b="b"/>
            <a:pathLst>
              <a:path w="5706555" h="1883640">
                <a:moveTo>
                  <a:pt x="63592" y="0"/>
                </a:moveTo>
                <a:lnTo>
                  <a:pt x="5642964" y="0"/>
                </a:lnTo>
                <a:cubicBezTo>
                  <a:pt x="5678084" y="0"/>
                  <a:pt x="5706555" y="28471"/>
                  <a:pt x="5706555" y="63592"/>
                </a:cubicBezTo>
                <a:lnTo>
                  <a:pt x="5706555" y="1820048"/>
                </a:lnTo>
                <a:cubicBezTo>
                  <a:pt x="5706555" y="1855169"/>
                  <a:pt x="5678084" y="1883640"/>
                  <a:pt x="5642964" y="1883640"/>
                </a:cubicBezTo>
                <a:lnTo>
                  <a:pt x="63592" y="1883640"/>
                </a:lnTo>
                <a:cubicBezTo>
                  <a:pt x="28471" y="1883640"/>
                  <a:pt x="0" y="1855169"/>
                  <a:pt x="0" y="1820048"/>
                </a:cubicBezTo>
                <a:lnTo>
                  <a:pt x="0" y="63592"/>
                </a:lnTo>
                <a:cubicBezTo>
                  <a:pt x="0" y="28494"/>
                  <a:pt x="28494" y="0"/>
                  <a:pt x="63592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027" y="3012235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158957" y="0"/>
                </a:moveTo>
                <a:lnTo>
                  <a:pt x="158957" y="0"/>
                </a:lnTo>
                <a:cubicBezTo>
                  <a:pt x="246746" y="0"/>
                  <a:pt x="317914" y="71167"/>
                  <a:pt x="317914" y="158957"/>
                </a:cubicBezTo>
                <a:lnTo>
                  <a:pt x="317914" y="158957"/>
                </a:lnTo>
                <a:cubicBezTo>
                  <a:pt x="317914" y="246746"/>
                  <a:pt x="246746" y="317914"/>
                  <a:pt x="158957" y="317914"/>
                </a:cubicBezTo>
                <a:lnTo>
                  <a:pt x="158957" y="317914"/>
                </a:lnTo>
                <a:cubicBezTo>
                  <a:pt x="71167" y="317914"/>
                  <a:pt x="0" y="246746"/>
                  <a:pt x="0" y="158957"/>
                </a:cubicBezTo>
                <a:lnTo>
                  <a:pt x="0" y="158957"/>
                </a:lnTo>
                <a:cubicBezTo>
                  <a:pt x="0" y="71167"/>
                  <a:pt x="71167" y="0"/>
                  <a:pt x="158957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417262" y="3012235"/>
            <a:ext cx="389445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524" y="3059922"/>
            <a:ext cx="1510091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3027" y="3393731"/>
            <a:ext cx="5507859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identification and imputation of missing values using training-data statistics to prevent leakage.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3027" y="3870602"/>
            <a:ext cx="5444276" cy="762993"/>
          </a:xfrm>
          <a:custGeom>
            <a:avLst/>
            <a:gdLst/>
            <a:ahLst/>
            <a:cxnLst/>
            <a:rect l="l" t="t" r="r" b="b"/>
            <a:pathLst>
              <a:path w="5444276" h="762993">
                <a:moveTo>
                  <a:pt x="31794" y="0"/>
                </a:moveTo>
                <a:lnTo>
                  <a:pt x="5412482" y="0"/>
                </a:lnTo>
                <a:cubicBezTo>
                  <a:pt x="5430042" y="0"/>
                  <a:pt x="5444276" y="14235"/>
                  <a:pt x="5444276" y="31794"/>
                </a:cubicBezTo>
                <a:lnTo>
                  <a:pt x="5444276" y="731200"/>
                </a:lnTo>
                <a:cubicBezTo>
                  <a:pt x="5444276" y="748759"/>
                  <a:pt x="5430042" y="762993"/>
                  <a:pt x="5412482" y="762993"/>
                </a:cubicBezTo>
                <a:lnTo>
                  <a:pt x="31794" y="762993"/>
                </a:lnTo>
                <a:cubicBezTo>
                  <a:pt x="14235" y="762993"/>
                  <a:pt x="0" y="748759"/>
                  <a:pt x="0" y="731200"/>
                </a:cubicBezTo>
                <a:lnTo>
                  <a:pt x="0" y="31794"/>
                </a:lnTo>
                <a:cubicBezTo>
                  <a:pt x="0" y="14246"/>
                  <a:pt x="14246" y="0"/>
                  <a:pt x="317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6610" y="3934185"/>
            <a:ext cx="65172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attack_cat: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5260" y="3934185"/>
            <a:ext cx="826576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91.8% missing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10" y="4156725"/>
            <a:ext cx="715306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is_ftp_login: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65822" y="4156725"/>
            <a:ext cx="83452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23.7% missing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6610" y="4379265"/>
            <a:ext cx="1072960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ct_flw_http_mthd: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62531" y="4379265"/>
            <a:ext cx="83452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22.2% missing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1888" y="4868057"/>
            <a:ext cx="5706555" cy="3028130"/>
          </a:xfrm>
          <a:custGeom>
            <a:avLst/>
            <a:gdLst/>
            <a:ahLst/>
            <a:cxnLst/>
            <a:rect l="l" t="t" r="r" b="b"/>
            <a:pathLst>
              <a:path w="5706555" h="3028130">
                <a:moveTo>
                  <a:pt x="63591" y="0"/>
                </a:moveTo>
                <a:lnTo>
                  <a:pt x="5642965" y="0"/>
                </a:lnTo>
                <a:cubicBezTo>
                  <a:pt x="5678085" y="0"/>
                  <a:pt x="5706555" y="28471"/>
                  <a:pt x="5706555" y="63591"/>
                </a:cubicBezTo>
                <a:lnTo>
                  <a:pt x="5706555" y="2964540"/>
                </a:lnTo>
                <a:cubicBezTo>
                  <a:pt x="5706555" y="2999660"/>
                  <a:pt x="5678085" y="3028130"/>
                  <a:pt x="5642965" y="3028130"/>
                </a:cubicBezTo>
                <a:lnTo>
                  <a:pt x="63591" y="3028130"/>
                </a:lnTo>
                <a:cubicBezTo>
                  <a:pt x="28471" y="3028130"/>
                  <a:pt x="0" y="2999660"/>
                  <a:pt x="0" y="2964540"/>
                </a:cubicBezTo>
                <a:lnTo>
                  <a:pt x="0" y="63591"/>
                </a:lnTo>
                <a:cubicBezTo>
                  <a:pt x="0" y="28494"/>
                  <a:pt x="28494" y="0"/>
                  <a:pt x="6359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3027" y="4999197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158957" y="0"/>
                </a:moveTo>
                <a:lnTo>
                  <a:pt x="158957" y="0"/>
                </a:lnTo>
                <a:cubicBezTo>
                  <a:pt x="246746" y="0"/>
                  <a:pt x="317914" y="71167"/>
                  <a:pt x="317914" y="158957"/>
                </a:cubicBezTo>
                <a:lnTo>
                  <a:pt x="317914" y="158957"/>
                </a:lnTo>
                <a:cubicBezTo>
                  <a:pt x="317914" y="246746"/>
                  <a:pt x="246746" y="317914"/>
                  <a:pt x="158957" y="317914"/>
                </a:cubicBezTo>
                <a:lnTo>
                  <a:pt x="158957" y="317914"/>
                </a:lnTo>
                <a:cubicBezTo>
                  <a:pt x="71167" y="317914"/>
                  <a:pt x="0" y="246746"/>
                  <a:pt x="0" y="158957"/>
                </a:cubicBezTo>
                <a:lnTo>
                  <a:pt x="0" y="158957"/>
                </a:lnTo>
                <a:cubicBezTo>
                  <a:pt x="0" y="71167"/>
                  <a:pt x="71167" y="0"/>
                  <a:pt x="158957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9" name="Text 27"/>
          <p:cNvSpPr/>
          <p:nvPr/>
        </p:nvSpPr>
        <p:spPr>
          <a:xfrm>
            <a:off x="417262" y="4999197"/>
            <a:ext cx="389445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6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4524" y="5046884"/>
            <a:ext cx="1486248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Leakage Analysis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3027" y="5380694"/>
            <a:ext cx="5507859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Three-stage screening to identify features that encode post-event information or would be unavailable at prediction time.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3027" y="5857565"/>
            <a:ext cx="5444276" cy="866316"/>
          </a:xfrm>
          <a:custGeom>
            <a:avLst/>
            <a:gdLst/>
            <a:ahLst/>
            <a:cxnLst/>
            <a:rect l="l" t="t" r="r" b="b"/>
            <a:pathLst>
              <a:path w="5444276" h="866316">
                <a:moveTo>
                  <a:pt x="31794" y="0"/>
                </a:moveTo>
                <a:lnTo>
                  <a:pt x="5412483" y="0"/>
                </a:lnTo>
                <a:cubicBezTo>
                  <a:pt x="5430042" y="0"/>
                  <a:pt x="5444276" y="14235"/>
                  <a:pt x="5444276" y="31794"/>
                </a:cubicBezTo>
                <a:lnTo>
                  <a:pt x="5444276" y="834522"/>
                </a:lnTo>
                <a:cubicBezTo>
                  <a:pt x="5444276" y="852081"/>
                  <a:pt x="5430042" y="866316"/>
                  <a:pt x="5412483" y="866316"/>
                </a:cubicBezTo>
                <a:lnTo>
                  <a:pt x="31794" y="866316"/>
                </a:lnTo>
                <a:cubicBezTo>
                  <a:pt x="14235" y="866316"/>
                  <a:pt x="0" y="852081"/>
                  <a:pt x="0" y="834522"/>
                </a:cubicBezTo>
                <a:lnTo>
                  <a:pt x="0" y="31794"/>
                </a:lnTo>
                <a:cubicBezTo>
                  <a:pt x="0" y="14246"/>
                  <a:pt x="14246" y="0"/>
                  <a:pt x="317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0454" y="5948965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4" name="Text 32"/>
          <p:cNvSpPr/>
          <p:nvPr/>
        </p:nvSpPr>
        <p:spPr>
          <a:xfrm>
            <a:off x="695463" y="5921147"/>
            <a:ext cx="520184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Temporal: Stime, Ltime flagged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0454" y="6171505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6" name="Text 34"/>
          <p:cNvSpPr/>
          <p:nvPr/>
        </p:nvSpPr>
        <p:spPr>
          <a:xfrm>
            <a:off x="695463" y="6143687"/>
            <a:ext cx="520184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Correlation: Dpkts (r=0.953) flagged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6610" y="6401992"/>
            <a:ext cx="5317111" cy="7948"/>
          </a:xfrm>
          <a:custGeom>
            <a:avLst/>
            <a:gdLst/>
            <a:ahLst/>
            <a:cxnLst/>
            <a:rect l="l" t="t" r="r" b="b"/>
            <a:pathLst>
              <a:path w="5317111" h="7948">
                <a:moveTo>
                  <a:pt x="0" y="0"/>
                </a:moveTo>
                <a:lnTo>
                  <a:pt x="5317111" y="0"/>
                </a:lnTo>
                <a:lnTo>
                  <a:pt x="5317111" y="7948"/>
                </a:lnTo>
                <a:lnTo>
                  <a:pt x="0" y="7948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10" y="6398018"/>
            <a:ext cx="5380694" cy="254331"/>
          </a:xfrm>
          <a:prstGeom prst="rect">
            <a:avLst/>
          </a:prstGeom>
          <a:noFill/>
          <a:ln/>
        </p:spPr>
        <p:txBody>
          <a:bodyPr wrap="square" lIns="0" tIns="63583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30000"/>
              </a:lnSpc>
            </a:pPr>
            <a:r>
              <a:rPr lang="en-US" sz="1001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features removed after manual review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64426" y="1148464"/>
            <a:ext cx="5706555" cy="1899536"/>
          </a:xfrm>
          <a:custGeom>
            <a:avLst/>
            <a:gdLst/>
            <a:ahLst/>
            <a:cxnLst/>
            <a:rect l="l" t="t" r="r" b="b"/>
            <a:pathLst>
              <a:path w="5706555" h="1899536">
                <a:moveTo>
                  <a:pt x="63577" y="0"/>
                </a:moveTo>
                <a:lnTo>
                  <a:pt x="5642978" y="0"/>
                </a:lnTo>
                <a:cubicBezTo>
                  <a:pt x="5678091" y="0"/>
                  <a:pt x="5706555" y="28465"/>
                  <a:pt x="5706555" y="63577"/>
                </a:cubicBezTo>
                <a:lnTo>
                  <a:pt x="5706555" y="1835958"/>
                </a:lnTo>
                <a:cubicBezTo>
                  <a:pt x="5706555" y="1871048"/>
                  <a:pt x="5678067" y="1899536"/>
                  <a:pt x="5642978" y="1899536"/>
                </a:cubicBezTo>
                <a:lnTo>
                  <a:pt x="63577" y="1899536"/>
                </a:lnTo>
                <a:cubicBezTo>
                  <a:pt x="28465" y="1899536"/>
                  <a:pt x="0" y="1871071"/>
                  <a:pt x="0" y="1835958"/>
                </a:cubicBezTo>
                <a:lnTo>
                  <a:pt x="0" y="63577"/>
                </a:lnTo>
                <a:cubicBezTo>
                  <a:pt x="0" y="28465"/>
                  <a:pt x="28465" y="0"/>
                  <a:pt x="6357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5566" y="1279604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158957" y="0"/>
                </a:moveTo>
                <a:lnTo>
                  <a:pt x="158957" y="0"/>
                </a:lnTo>
                <a:cubicBezTo>
                  <a:pt x="246746" y="0"/>
                  <a:pt x="317914" y="71167"/>
                  <a:pt x="317914" y="158957"/>
                </a:cubicBezTo>
                <a:lnTo>
                  <a:pt x="317914" y="158957"/>
                </a:lnTo>
                <a:cubicBezTo>
                  <a:pt x="317914" y="246746"/>
                  <a:pt x="246746" y="317914"/>
                  <a:pt x="158957" y="317914"/>
                </a:cubicBezTo>
                <a:lnTo>
                  <a:pt x="158957" y="317914"/>
                </a:lnTo>
                <a:cubicBezTo>
                  <a:pt x="71167" y="317914"/>
                  <a:pt x="0" y="246746"/>
                  <a:pt x="0" y="158957"/>
                </a:cubicBezTo>
                <a:lnTo>
                  <a:pt x="0" y="158957"/>
                </a:lnTo>
                <a:cubicBezTo>
                  <a:pt x="0" y="71167"/>
                  <a:pt x="71167" y="0"/>
                  <a:pt x="158957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1" name="Text 39"/>
          <p:cNvSpPr/>
          <p:nvPr/>
        </p:nvSpPr>
        <p:spPr>
          <a:xfrm>
            <a:off x="6259800" y="1279604"/>
            <a:ext cx="389445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6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77062" y="1327291"/>
            <a:ext cx="1335239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95566" y="1661100"/>
            <a:ext cx="5507859" cy="20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of domain-informed derived features capturing network behavior patterns.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95566" y="1931327"/>
            <a:ext cx="5444276" cy="985533"/>
          </a:xfrm>
          <a:custGeom>
            <a:avLst/>
            <a:gdLst/>
            <a:ahLst/>
            <a:cxnLst/>
            <a:rect l="l" t="t" r="r" b="b"/>
            <a:pathLst>
              <a:path w="5444276" h="985533">
                <a:moveTo>
                  <a:pt x="31793" y="0"/>
                </a:moveTo>
                <a:lnTo>
                  <a:pt x="5412483" y="0"/>
                </a:lnTo>
                <a:cubicBezTo>
                  <a:pt x="5430042" y="0"/>
                  <a:pt x="5444276" y="14234"/>
                  <a:pt x="5444276" y="31793"/>
                </a:cubicBezTo>
                <a:lnTo>
                  <a:pt x="5444276" y="953740"/>
                </a:lnTo>
                <a:cubicBezTo>
                  <a:pt x="5444276" y="971299"/>
                  <a:pt x="5430042" y="985533"/>
                  <a:pt x="5412483" y="985533"/>
                </a:cubicBezTo>
                <a:lnTo>
                  <a:pt x="31793" y="985533"/>
                </a:lnTo>
                <a:cubicBezTo>
                  <a:pt x="14234" y="985533"/>
                  <a:pt x="0" y="971299"/>
                  <a:pt x="0" y="953740"/>
                </a:cubicBezTo>
                <a:lnTo>
                  <a:pt x="0" y="31793"/>
                </a:lnTo>
                <a:cubicBezTo>
                  <a:pt x="0" y="14246"/>
                  <a:pt x="14246" y="0"/>
                  <a:pt x="3179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59148" y="1994910"/>
            <a:ext cx="538069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total_bytes:</a:t>
            </a:r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sbytes + dbytes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59148" y="2217450"/>
            <a:ext cx="538069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byte_ratio:</a:t>
            </a:r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sbytes / (dbytes + ε)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59148" y="2439990"/>
            <a:ext cx="538069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total_packets:</a:t>
            </a:r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Spkts + Dpkts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59148" y="2662529"/>
            <a:ext cx="538069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packet_ratio:</a:t>
            </a:r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Spkts / (Dpkts + ε)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4426" y="3151322"/>
            <a:ext cx="5706555" cy="3552688"/>
          </a:xfrm>
          <a:custGeom>
            <a:avLst/>
            <a:gdLst/>
            <a:ahLst/>
            <a:cxnLst/>
            <a:rect l="l" t="t" r="r" b="b"/>
            <a:pathLst>
              <a:path w="5706555" h="3552688">
                <a:moveTo>
                  <a:pt x="63593" y="0"/>
                </a:moveTo>
                <a:lnTo>
                  <a:pt x="5642962" y="0"/>
                </a:lnTo>
                <a:cubicBezTo>
                  <a:pt x="5678084" y="0"/>
                  <a:pt x="5706555" y="28472"/>
                  <a:pt x="5706555" y="63593"/>
                </a:cubicBezTo>
                <a:lnTo>
                  <a:pt x="5706555" y="3489095"/>
                </a:lnTo>
                <a:cubicBezTo>
                  <a:pt x="5706555" y="3524217"/>
                  <a:pt x="5678084" y="3552688"/>
                  <a:pt x="5642962" y="3552688"/>
                </a:cubicBezTo>
                <a:lnTo>
                  <a:pt x="63593" y="3552688"/>
                </a:lnTo>
                <a:cubicBezTo>
                  <a:pt x="28472" y="3552688"/>
                  <a:pt x="0" y="3524217"/>
                  <a:pt x="0" y="3489095"/>
                </a:cubicBezTo>
                <a:lnTo>
                  <a:pt x="0" y="63593"/>
                </a:lnTo>
                <a:cubicBezTo>
                  <a:pt x="0" y="28495"/>
                  <a:pt x="28495" y="0"/>
                  <a:pt x="6359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95566" y="3282462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158957" y="0"/>
                </a:moveTo>
                <a:lnTo>
                  <a:pt x="158957" y="0"/>
                </a:lnTo>
                <a:cubicBezTo>
                  <a:pt x="246746" y="0"/>
                  <a:pt x="317914" y="71167"/>
                  <a:pt x="317914" y="158957"/>
                </a:cubicBezTo>
                <a:lnTo>
                  <a:pt x="317914" y="158957"/>
                </a:lnTo>
                <a:cubicBezTo>
                  <a:pt x="317914" y="246746"/>
                  <a:pt x="246746" y="317914"/>
                  <a:pt x="158957" y="317914"/>
                </a:cubicBezTo>
                <a:lnTo>
                  <a:pt x="158957" y="317914"/>
                </a:lnTo>
                <a:cubicBezTo>
                  <a:pt x="71167" y="317914"/>
                  <a:pt x="0" y="246746"/>
                  <a:pt x="0" y="158957"/>
                </a:cubicBezTo>
                <a:lnTo>
                  <a:pt x="0" y="158957"/>
                </a:lnTo>
                <a:cubicBezTo>
                  <a:pt x="0" y="71167"/>
                  <a:pt x="71167" y="0"/>
                  <a:pt x="158957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1" name="Text 49"/>
          <p:cNvSpPr/>
          <p:nvPr/>
        </p:nvSpPr>
        <p:spPr>
          <a:xfrm>
            <a:off x="6259800" y="3282462"/>
            <a:ext cx="389445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6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77062" y="3330149"/>
            <a:ext cx="1422665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Categorical Encoding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95566" y="3663958"/>
            <a:ext cx="5507859" cy="20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 encoding of nominal features with fitted encoders applied to validation data.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95566" y="3934185"/>
            <a:ext cx="5444276" cy="985533"/>
          </a:xfrm>
          <a:custGeom>
            <a:avLst/>
            <a:gdLst/>
            <a:ahLst/>
            <a:cxnLst/>
            <a:rect l="l" t="t" r="r" b="b"/>
            <a:pathLst>
              <a:path w="5444276" h="985533">
                <a:moveTo>
                  <a:pt x="31793" y="0"/>
                </a:moveTo>
                <a:lnTo>
                  <a:pt x="5412483" y="0"/>
                </a:lnTo>
                <a:cubicBezTo>
                  <a:pt x="5430042" y="0"/>
                  <a:pt x="5444276" y="14234"/>
                  <a:pt x="5444276" y="31793"/>
                </a:cubicBezTo>
                <a:lnTo>
                  <a:pt x="5444276" y="953740"/>
                </a:lnTo>
                <a:cubicBezTo>
                  <a:pt x="5444276" y="971299"/>
                  <a:pt x="5430042" y="985533"/>
                  <a:pt x="5412483" y="985533"/>
                </a:cubicBezTo>
                <a:lnTo>
                  <a:pt x="31793" y="985533"/>
                </a:lnTo>
                <a:cubicBezTo>
                  <a:pt x="14234" y="985533"/>
                  <a:pt x="0" y="971299"/>
                  <a:pt x="0" y="953740"/>
                </a:cubicBezTo>
                <a:lnTo>
                  <a:pt x="0" y="31793"/>
                </a:lnTo>
                <a:cubicBezTo>
                  <a:pt x="0" y="14246"/>
                  <a:pt x="14246" y="0"/>
                  <a:pt x="3179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359148" y="3997768"/>
            <a:ext cx="357653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srcip: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945119" y="3997768"/>
            <a:ext cx="79478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 categories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59148" y="4220308"/>
            <a:ext cx="36560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dstip: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976662" y="4220308"/>
            <a:ext cx="762993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 categories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59148" y="4442847"/>
            <a:ext cx="453027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dsport: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736053" y="4442847"/>
            <a:ext cx="1001429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12,859 categories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59148" y="4665387"/>
            <a:ext cx="397392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010627" y="4665387"/>
            <a:ext cx="731202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categories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64426" y="6810499"/>
            <a:ext cx="5706555" cy="1088855"/>
          </a:xfrm>
          <a:custGeom>
            <a:avLst/>
            <a:gdLst/>
            <a:ahLst/>
            <a:cxnLst/>
            <a:rect l="l" t="t" r="r" b="b"/>
            <a:pathLst>
              <a:path w="5706555" h="1088855">
                <a:moveTo>
                  <a:pt x="63578" y="0"/>
                </a:moveTo>
                <a:lnTo>
                  <a:pt x="5642977" y="0"/>
                </a:lnTo>
                <a:cubicBezTo>
                  <a:pt x="5678090" y="0"/>
                  <a:pt x="5706555" y="28465"/>
                  <a:pt x="5706555" y="63578"/>
                </a:cubicBezTo>
                <a:lnTo>
                  <a:pt x="5706555" y="1025277"/>
                </a:lnTo>
                <a:cubicBezTo>
                  <a:pt x="5706555" y="1060390"/>
                  <a:pt x="5678090" y="1088855"/>
                  <a:pt x="5642977" y="1088855"/>
                </a:cubicBezTo>
                <a:lnTo>
                  <a:pt x="63578" y="1088855"/>
                </a:lnTo>
                <a:cubicBezTo>
                  <a:pt x="28465" y="1088855"/>
                  <a:pt x="0" y="1060390"/>
                  <a:pt x="0" y="1025277"/>
                </a:cubicBezTo>
                <a:lnTo>
                  <a:pt x="0" y="63578"/>
                </a:lnTo>
                <a:cubicBezTo>
                  <a:pt x="0" y="28488"/>
                  <a:pt x="28488" y="0"/>
                  <a:pt x="6357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63774" y="6941639"/>
            <a:ext cx="158957" cy="127166"/>
          </a:xfrm>
          <a:custGeom>
            <a:avLst/>
            <a:gdLst/>
            <a:ahLst/>
            <a:cxnLst/>
            <a:rect l="l" t="t" r="r" b="b"/>
            <a:pathLst>
              <a:path w="158957" h="127166">
                <a:moveTo>
                  <a:pt x="103297" y="52282"/>
                </a:moveTo>
                <a:cubicBezTo>
                  <a:pt x="106327" y="51462"/>
                  <a:pt x="109506" y="52903"/>
                  <a:pt x="110872" y="55709"/>
                </a:cubicBezTo>
                <a:lnTo>
                  <a:pt x="115492" y="65048"/>
                </a:lnTo>
                <a:cubicBezTo>
                  <a:pt x="118050" y="65396"/>
                  <a:pt x="120559" y="66091"/>
                  <a:pt x="122918" y="67060"/>
                </a:cubicBezTo>
                <a:lnTo>
                  <a:pt x="131611" y="61273"/>
                </a:lnTo>
                <a:cubicBezTo>
                  <a:pt x="134219" y="59534"/>
                  <a:pt x="137672" y="59882"/>
                  <a:pt x="139882" y="62093"/>
                </a:cubicBezTo>
                <a:lnTo>
                  <a:pt x="144651" y="66861"/>
                </a:lnTo>
                <a:cubicBezTo>
                  <a:pt x="146861" y="69072"/>
                  <a:pt x="147209" y="72549"/>
                  <a:pt x="145470" y="75132"/>
                </a:cubicBezTo>
                <a:lnTo>
                  <a:pt x="139683" y="83800"/>
                </a:lnTo>
                <a:cubicBezTo>
                  <a:pt x="140155" y="84967"/>
                  <a:pt x="140578" y="86184"/>
                  <a:pt x="140925" y="87451"/>
                </a:cubicBezTo>
                <a:cubicBezTo>
                  <a:pt x="141273" y="88718"/>
                  <a:pt x="141497" y="89960"/>
                  <a:pt x="141670" y="91226"/>
                </a:cubicBezTo>
                <a:lnTo>
                  <a:pt x="151034" y="95846"/>
                </a:lnTo>
                <a:cubicBezTo>
                  <a:pt x="153841" y="97237"/>
                  <a:pt x="155281" y="100416"/>
                  <a:pt x="154461" y="103421"/>
                </a:cubicBezTo>
                <a:lnTo>
                  <a:pt x="152723" y="109929"/>
                </a:lnTo>
                <a:cubicBezTo>
                  <a:pt x="151903" y="112934"/>
                  <a:pt x="149097" y="114971"/>
                  <a:pt x="145967" y="114772"/>
                </a:cubicBezTo>
                <a:lnTo>
                  <a:pt x="135536" y="114101"/>
                </a:lnTo>
                <a:cubicBezTo>
                  <a:pt x="133971" y="116113"/>
                  <a:pt x="132158" y="117976"/>
                  <a:pt x="130096" y="119565"/>
                </a:cubicBezTo>
                <a:lnTo>
                  <a:pt x="130767" y="129972"/>
                </a:lnTo>
                <a:cubicBezTo>
                  <a:pt x="130966" y="133102"/>
                  <a:pt x="128929" y="135933"/>
                  <a:pt x="125924" y="136728"/>
                </a:cubicBezTo>
                <a:lnTo>
                  <a:pt x="119416" y="138466"/>
                </a:lnTo>
                <a:cubicBezTo>
                  <a:pt x="116386" y="139286"/>
                  <a:pt x="113232" y="137846"/>
                  <a:pt x="111841" y="135039"/>
                </a:cubicBezTo>
                <a:lnTo>
                  <a:pt x="107221" y="125700"/>
                </a:lnTo>
                <a:cubicBezTo>
                  <a:pt x="104663" y="125352"/>
                  <a:pt x="102155" y="124657"/>
                  <a:pt x="99795" y="123688"/>
                </a:cubicBezTo>
                <a:lnTo>
                  <a:pt x="91102" y="129475"/>
                </a:lnTo>
                <a:cubicBezTo>
                  <a:pt x="88494" y="131214"/>
                  <a:pt x="85042" y="130866"/>
                  <a:pt x="82831" y="128656"/>
                </a:cubicBezTo>
                <a:lnTo>
                  <a:pt x="78063" y="123887"/>
                </a:lnTo>
                <a:cubicBezTo>
                  <a:pt x="75852" y="121677"/>
                  <a:pt x="75505" y="118224"/>
                  <a:pt x="77243" y="115616"/>
                </a:cubicBezTo>
                <a:lnTo>
                  <a:pt x="83030" y="106923"/>
                </a:lnTo>
                <a:cubicBezTo>
                  <a:pt x="82558" y="105756"/>
                  <a:pt x="82136" y="104539"/>
                  <a:pt x="81788" y="103272"/>
                </a:cubicBezTo>
                <a:cubicBezTo>
                  <a:pt x="81441" y="102006"/>
                  <a:pt x="81217" y="100739"/>
                  <a:pt x="81043" y="99497"/>
                </a:cubicBezTo>
                <a:lnTo>
                  <a:pt x="71680" y="94877"/>
                </a:lnTo>
                <a:cubicBezTo>
                  <a:pt x="68873" y="93487"/>
                  <a:pt x="67457" y="90307"/>
                  <a:pt x="68252" y="87302"/>
                </a:cubicBezTo>
                <a:lnTo>
                  <a:pt x="69991" y="80795"/>
                </a:lnTo>
                <a:cubicBezTo>
                  <a:pt x="70810" y="77790"/>
                  <a:pt x="73617" y="75753"/>
                  <a:pt x="76746" y="75952"/>
                </a:cubicBezTo>
                <a:lnTo>
                  <a:pt x="87153" y="76622"/>
                </a:lnTo>
                <a:cubicBezTo>
                  <a:pt x="88718" y="74610"/>
                  <a:pt x="90531" y="72748"/>
                  <a:pt x="92592" y="71158"/>
                </a:cubicBezTo>
                <a:lnTo>
                  <a:pt x="91922" y="60776"/>
                </a:lnTo>
                <a:cubicBezTo>
                  <a:pt x="91723" y="57647"/>
                  <a:pt x="93760" y="54815"/>
                  <a:pt x="96765" y="54021"/>
                </a:cubicBezTo>
                <a:lnTo>
                  <a:pt x="103272" y="52282"/>
                </a:lnTo>
                <a:close/>
                <a:moveTo>
                  <a:pt x="111369" y="84446"/>
                </a:moveTo>
                <a:cubicBezTo>
                  <a:pt x="105338" y="84453"/>
                  <a:pt x="100447" y="89355"/>
                  <a:pt x="100453" y="95387"/>
                </a:cubicBezTo>
                <a:cubicBezTo>
                  <a:pt x="100460" y="101418"/>
                  <a:pt x="105363" y="106309"/>
                  <a:pt x="111394" y="106302"/>
                </a:cubicBezTo>
                <a:cubicBezTo>
                  <a:pt x="117426" y="106296"/>
                  <a:pt x="122317" y="101393"/>
                  <a:pt x="122310" y="95362"/>
                </a:cubicBezTo>
                <a:cubicBezTo>
                  <a:pt x="122303" y="89330"/>
                  <a:pt x="117401" y="84439"/>
                  <a:pt x="111369" y="84446"/>
                </a:cubicBezTo>
                <a:close/>
                <a:moveTo>
                  <a:pt x="55858" y="-11301"/>
                </a:moveTo>
                <a:lnTo>
                  <a:pt x="62366" y="-9562"/>
                </a:lnTo>
                <a:cubicBezTo>
                  <a:pt x="65371" y="-8743"/>
                  <a:pt x="67408" y="-5911"/>
                  <a:pt x="67209" y="-2807"/>
                </a:cubicBezTo>
                <a:lnTo>
                  <a:pt x="66538" y="7575"/>
                </a:lnTo>
                <a:cubicBezTo>
                  <a:pt x="68600" y="9165"/>
                  <a:pt x="70413" y="11003"/>
                  <a:pt x="71978" y="13039"/>
                </a:cubicBezTo>
                <a:lnTo>
                  <a:pt x="82409" y="12369"/>
                </a:lnTo>
                <a:cubicBezTo>
                  <a:pt x="85514" y="12170"/>
                  <a:pt x="88345" y="14207"/>
                  <a:pt x="89165" y="17212"/>
                </a:cubicBezTo>
                <a:lnTo>
                  <a:pt x="90904" y="23719"/>
                </a:lnTo>
                <a:cubicBezTo>
                  <a:pt x="91698" y="26725"/>
                  <a:pt x="90283" y="29904"/>
                  <a:pt x="87476" y="31295"/>
                </a:cubicBezTo>
                <a:lnTo>
                  <a:pt x="78112" y="35914"/>
                </a:lnTo>
                <a:cubicBezTo>
                  <a:pt x="77939" y="37181"/>
                  <a:pt x="77690" y="38448"/>
                  <a:pt x="77367" y="39690"/>
                </a:cubicBezTo>
                <a:cubicBezTo>
                  <a:pt x="77044" y="40931"/>
                  <a:pt x="76597" y="42173"/>
                  <a:pt x="76125" y="43341"/>
                </a:cubicBezTo>
                <a:lnTo>
                  <a:pt x="81913" y="52034"/>
                </a:lnTo>
                <a:cubicBezTo>
                  <a:pt x="83651" y="54641"/>
                  <a:pt x="83303" y="58094"/>
                  <a:pt x="81093" y="60304"/>
                </a:cubicBezTo>
                <a:lnTo>
                  <a:pt x="76324" y="65073"/>
                </a:lnTo>
                <a:cubicBezTo>
                  <a:pt x="74114" y="67284"/>
                  <a:pt x="70661" y="67631"/>
                  <a:pt x="68053" y="65893"/>
                </a:cubicBezTo>
                <a:lnTo>
                  <a:pt x="59360" y="60106"/>
                </a:lnTo>
                <a:cubicBezTo>
                  <a:pt x="57001" y="61074"/>
                  <a:pt x="54492" y="61770"/>
                  <a:pt x="51934" y="62117"/>
                </a:cubicBezTo>
                <a:lnTo>
                  <a:pt x="47315" y="71456"/>
                </a:lnTo>
                <a:cubicBezTo>
                  <a:pt x="45924" y="74263"/>
                  <a:pt x="42745" y="75678"/>
                  <a:pt x="39739" y="74884"/>
                </a:cubicBezTo>
                <a:lnTo>
                  <a:pt x="33232" y="73145"/>
                </a:lnTo>
                <a:cubicBezTo>
                  <a:pt x="30202" y="72325"/>
                  <a:pt x="28190" y="69494"/>
                  <a:pt x="28389" y="66389"/>
                </a:cubicBezTo>
                <a:lnTo>
                  <a:pt x="29059" y="55983"/>
                </a:lnTo>
                <a:cubicBezTo>
                  <a:pt x="26998" y="54393"/>
                  <a:pt x="25185" y="52555"/>
                  <a:pt x="23620" y="50519"/>
                </a:cubicBezTo>
                <a:lnTo>
                  <a:pt x="13188" y="51189"/>
                </a:lnTo>
                <a:cubicBezTo>
                  <a:pt x="10084" y="51388"/>
                  <a:pt x="7252" y="49351"/>
                  <a:pt x="6433" y="46346"/>
                </a:cubicBezTo>
                <a:lnTo>
                  <a:pt x="4694" y="39839"/>
                </a:lnTo>
                <a:cubicBezTo>
                  <a:pt x="3899" y="36833"/>
                  <a:pt x="5315" y="33654"/>
                  <a:pt x="8122" y="32263"/>
                </a:cubicBezTo>
                <a:lnTo>
                  <a:pt x="17485" y="27644"/>
                </a:lnTo>
                <a:cubicBezTo>
                  <a:pt x="17659" y="26377"/>
                  <a:pt x="17907" y="25135"/>
                  <a:pt x="18230" y="23868"/>
                </a:cubicBezTo>
                <a:cubicBezTo>
                  <a:pt x="18578" y="22602"/>
                  <a:pt x="18975" y="21385"/>
                  <a:pt x="19472" y="20217"/>
                </a:cubicBezTo>
                <a:lnTo>
                  <a:pt x="13685" y="11549"/>
                </a:lnTo>
                <a:cubicBezTo>
                  <a:pt x="11947" y="8941"/>
                  <a:pt x="12294" y="5489"/>
                  <a:pt x="14505" y="3278"/>
                </a:cubicBezTo>
                <a:lnTo>
                  <a:pt x="19274" y="-1490"/>
                </a:lnTo>
                <a:cubicBezTo>
                  <a:pt x="21484" y="-3701"/>
                  <a:pt x="24936" y="-4048"/>
                  <a:pt x="27544" y="-2310"/>
                </a:cubicBezTo>
                <a:lnTo>
                  <a:pt x="36237" y="3477"/>
                </a:lnTo>
                <a:cubicBezTo>
                  <a:pt x="38597" y="2509"/>
                  <a:pt x="41105" y="1813"/>
                  <a:pt x="43663" y="1465"/>
                </a:cubicBezTo>
                <a:lnTo>
                  <a:pt x="48283" y="-7873"/>
                </a:lnTo>
                <a:cubicBezTo>
                  <a:pt x="49674" y="-10680"/>
                  <a:pt x="52828" y="-12096"/>
                  <a:pt x="55858" y="-11301"/>
                </a:cubicBezTo>
                <a:close/>
                <a:moveTo>
                  <a:pt x="47786" y="20863"/>
                </a:moveTo>
                <a:cubicBezTo>
                  <a:pt x="41755" y="20863"/>
                  <a:pt x="36858" y="25760"/>
                  <a:pt x="36858" y="31791"/>
                </a:cubicBezTo>
                <a:cubicBezTo>
                  <a:pt x="36858" y="37823"/>
                  <a:pt x="41755" y="42720"/>
                  <a:pt x="47786" y="42720"/>
                </a:cubicBezTo>
                <a:cubicBezTo>
                  <a:pt x="53818" y="42720"/>
                  <a:pt x="58715" y="37823"/>
                  <a:pt x="58715" y="31791"/>
                </a:cubicBezTo>
                <a:cubicBezTo>
                  <a:pt x="58715" y="25760"/>
                  <a:pt x="53818" y="20863"/>
                  <a:pt x="47786" y="20863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5" name="Text 63"/>
          <p:cNvSpPr/>
          <p:nvPr/>
        </p:nvSpPr>
        <p:spPr>
          <a:xfrm>
            <a:off x="6422731" y="6909847"/>
            <a:ext cx="541248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Pipeline Summary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263774" y="7164178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95374" y="0"/>
                </a:moveTo>
                <a:lnTo>
                  <a:pt x="95374" y="0"/>
                </a:lnTo>
                <a:cubicBezTo>
                  <a:pt x="148048" y="0"/>
                  <a:pt x="190748" y="42700"/>
                  <a:pt x="190748" y="95374"/>
                </a:cubicBezTo>
                <a:lnTo>
                  <a:pt x="190748" y="95374"/>
                </a:lnTo>
                <a:cubicBezTo>
                  <a:pt x="190748" y="148048"/>
                  <a:pt x="148048" y="190748"/>
                  <a:pt x="95374" y="190748"/>
                </a:cubicBezTo>
                <a:lnTo>
                  <a:pt x="95374" y="190748"/>
                </a:lnTo>
                <a:cubicBezTo>
                  <a:pt x="42700" y="190748"/>
                  <a:pt x="0" y="148048"/>
                  <a:pt x="0" y="95374"/>
                </a:cubicBezTo>
                <a:lnTo>
                  <a:pt x="0" y="95374"/>
                </a:lnTo>
                <a:cubicBezTo>
                  <a:pt x="0" y="42700"/>
                  <a:pt x="42700" y="0"/>
                  <a:pt x="95374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7" name="Text 65"/>
          <p:cNvSpPr/>
          <p:nvPr/>
        </p:nvSpPr>
        <p:spPr>
          <a:xfrm>
            <a:off x="6231983" y="7164178"/>
            <a:ext cx="25433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18105" y="7164178"/>
            <a:ext cx="492767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081721" y="7164178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95374" y="0"/>
                </a:moveTo>
                <a:lnTo>
                  <a:pt x="95374" y="0"/>
                </a:lnTo>
                <a:cubicBezTo>
                  <a:pt x="148048" y="0"/>
                  <a:pt x="190748" y="42700"/>
                  <a:pt x="190748" y="95374"/>
                </a:cubicBezTo>
                <a:lnTo>
                  <a:pt x="190748" y="95374"/>
                </a:lnTo>
                <a:cubicBezTo>
                  <a:pt x="190748" y="148048"/>
                  <a:pt x="148048" y="190748"/>
                  <a:pt x="95374" y="190748"/>
                </a:cubicBezTo>
                <a:lnTo>
                  <a:pt x="95374" y="190748"/>
                </a:lnTo>
                <a:cubicBezTo>
                  <a:pt x="42700" y="190748"/>
                  <a:pt x="0" y="148048"/>
                  <a:pt x="0" y="95374"/>
                </a:cubicBezTo>
                <a:lnTo>
                  <a:pt x="0" y="95374"/>
                </a:lnTo>
                <a:cubicBezTo>
                  <a:pt x="0" y="42700"/>
                  <a:pt x="42700" y="0"/>
                  <a:pt x="95374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0" name="Text 68"/>
          <p:cNvSpPr/>
          <p:nvPr/>
        </p:nvSpPr>
        <p:spPr>
          <a:xfrm>
            <a:off x="9049930" y="7164178"/>
            <a:ext cx="25433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336052" y="7164178"/>
            <a:ext cx="826576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Deduplication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63774" y="7386718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95374" y="0"/>
                </a:moveTo>
                <a:lnTo>
                  <a:pt x="95374" y="0"/>
                </a:lnTo>
                <a:cubicBezTo>
                  <a:pt x="148048" y="0"/>
                  <a:pt x="190748" y="42700"/>
                  <a:pt x="190748" y="95374"/>
                </a:cubicBezTo>
                <a:lnTo>
                  <a:pt x="190748" y="95374"/>
                </a:lnTo>
                <a:cubicBezTo>
                  <a:pt x="190748" y="148048"/>
                  <a:pt x="148048" y="190748"/>
                  <a:pt x="95374" y="190748"/>
                </a:cubicBezTo>
                <a:lnTo>
                  <a:pt x="95374" y="190748"/>
                </a:lnTo>
                <a:cubicBezTo>
                  <a:pt x="42700" y="190748"/>
                  <a:pt x="0" y="148048"/>
                  <a:pt x="0" y="95374"/>
                </a:cubicBezTo>
                <a:lnTo>
                  <a:pt x="0" y="95374"/>
                </a:lnTo>
                <a:cubicBezTo>
                  <a:pt x="0" y="42700"/>
                  <a:pt x="42700" y="0"/>
                  <a:pt x="95374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3" name="Text 71"/>
          <p:cNvSpPr/>
          <p:nvPr/>
        </p:nvSpPr>
        <p:spPr>
          <a:xfrm>
            <a:off x="6231983" y="7386718"/>
            <a:ext cx="25433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18105" y="7386718"/>
            <a:ext cx="1446508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 Imputation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081721" y="7386718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95374" y="0"/>
                </a:moveTo>
                <a:lnTo>
                  <a:pt x="95374" y="0"/>
                </a:lnTo>
                <a:cubicBezTo>
                  <a:pt x="148048" y="0"/>
                  <a:pt x="190748" y="42700"/>
                  <a:pt x="190748" y="95374"/>
                </a:cubicBezTo>
                <a:lnTo>
                  <a:pt x="190748" y="95374"/>
                </a:lnTo>
                <a:cubicBezTo>
                  <a:pt x="190748" y="148048"/>
                  <a:pt x="148048" y="190748"/>
                  <a:pt x="95374" y="190748"/>
                </a:cubicBezTo>
                <a:lnTo>
                  <a:pt x="95374" y="190748"/>
                </a:lnTo>
                <a:cubicBezTo>
                  <a:pt x="42700" y="190748"/>
                  <a:pt x="0" y="148048"/>
                  <a:pt x="0" y="95374"/>
                </a:cubicBezTo>
                <a:lnTo>
                  <a:pt x="0" y="95374"/>
                </a:lnTo>
                <a:cubicBezTo>
                  <a:pt x="0" y="42700"/>
                  <a:pt x="42700" y="0"/>
                  <a:pt x="95374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6" name="Text 74"/>
          <p:cNvSpPr/>
          <p:nvPr/>
        </p:nvSpPr>
        <p:spPr>
          <a:xfrm>
            <a:off x="9049930" y="7386718"/>
            <a:ext cx="25433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336052" y="7386718"/>
            <a:ext cx="99348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Leakage Analysis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63774" y="7609258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95374" y="0"/>
                </a:moveTo>
                <a:lnTo>
                  <a:pt x="95374" y="0"/>
                </a:lnTo>
                <a:cubicBezTo>
                  <a:pt x="148048" y="0"/>
                  <a:pt x="190748" y="42700"/>
                  <a:pt x="190748" y="95374"/>
                </a:cubicBezTo>
                <a:lnTo>
                  <a:pt x="190748" y="95374"/>
                </a:lnTo>
                <a:cubicBezTo>
                  <a:pt x="190748" y="148048"/>
                  <a:pt x="148048" y="190748"/>
                  <a:pt x="95374" y="190748"/>
                </a:cubicBezTo>
                <a:lnTo>
                  <a:pt x="95374" y="190748"/>
                </a:lnTo>
                <a:cubicBezTo>
                  <a:pt x="42700" y="190748"/>
                  <a:pt x="0" y="148048"/>
                  <a:pt x="0" y="95374"/>
                </a:cubicBezTo>
                <a:lnTo>
                  <a:pt x="0" y="95374"/>
                </a:lnTo>
                <a:cubicBezTo>
                  <a:pt x="0" y="42700"/>
                  <a:pt x="42700" y="0"/>
                  <a:pt x="95374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9" name="Text 77"/>
          <p:cNvSpPr/>
          <p:nvPr/>
        </p:nvSpPr>
        <p:spPr>
          <a:xfrm>
            <a:off x="6231983" y="7609258"/>
            <a:ext cx="25433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18105" y="7609258"/>
            <a:ext cx="1144490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81721" y="7609258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95374" y="0"/>
                </a:moveTo>
                <a:lnTo>
                  <a:pt x="95374" y="0"/>
                </a:lnTo>
                <a:cubicBezTo>
                  <a:pt x="148048" y="0"/>
                  <a:pt x="190748" y="42700"/>
                  <a:pt x="190748" y="95374"/>
                </a:cubicBezTo>
                <a:lnTo>
                  <a:pt x="190748" y="95374"/>
                </a:lnTo>
                <a:cubicBezTo>
                  <a:pt x="190748" y="148048"/>
                  <a:pt x="148048" y="190748"/>
                  <a:pt x="95374" y="190748"/>
                </a:cubicBezTo>
                <a:lnTo>
                  <a:pt x="95374" y="190748"/>
                </a:lnTo>
                <a:cubicBezTo>
                  <a:pt x="42700" y="190748"/>
                  <a:pt x="0" y="148048"/>
                  <a:pt x="0" y="95374"/>
                </a:cubicBezTo>
                <a:lnTo>
                  <a:pt x="0" y="95374"/>
                </a:lnTo>
                <a:cubicBezTo>
                  <a:pt x="0" y="42700"/>
                  <a:pt x="42700" y="0"/>
                  <a:pt x="95374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82" name="Text 80"/>
          <p:cNvSpPr/>
          <p:nvPr/>
        </p:nvSpPr>
        <p:spPr>
          <a:xfrm>
            <a:off x="9049930" y="7609258"/>
            <a:ext cx="25433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336052" y="7609258"/>
            <a:ext cx="121602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Encoding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dpi.com/20820830c3f1af6e937219e8a5011198c40547ac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4590" b="2459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3D4A5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590675"/>
            <a:ext cx="1657350" cy="419100"/>
          </a:xfrm>
          <a:custGeom>
            <a:avLst/>
            <a:gdLst/>
            <a:ahLst/>
            <a:cxnLst/>
            <a:rect l="l" t="t" r="r" b="b"/>
            <a:pathLst>
              <a:path w="1657350" h="419100">
                <a:moveTo>
                  <a:pt x="0" y="0"/>
                </a:moveTo>
                <a:lnTo>
                  <a:pt x="1657350" y="0"/>
                </a:lnTo>
                <a:lnTo>
                  <a:pt x="16573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7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5906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666875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38375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Task: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Intrusion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814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and multi-class threat detection model development and evaluation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2292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DEVELOPMENT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Models &amp; Feature Selection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4448175" cy="2790825"/>
          </a:xfrm>
          <a:custGeom>
            <a:avLst/>
            <a:gdLst/>
            <a:ahLst/>
            <a:cxnLst/>
            <a:rect l="l" t="t" r="r" b="b"/>
            <a:pathLst>
              <a:path w="4448175" h="2790825">
                <a:moveTo>
                  <a:pt x="76190" y="0"/>
                </a:moveTo>
                <a:lnTo>
                  <a:pt x="4371985" y="0"/>
                </a:lnTo>
                <a:cubicBezTo>
                  <a:pt x="4414064" y="0"/>
                  <a:pt x="4448175" y="34111"/>
                  <a:pt x="4448175" y="76190"/>
                </a:cubicBezTo>
                <a:lnTo>
                  <a:pt x="4448175" y="2714635"/>
                </a:lnTo>
                <a:cubicBezTo>
                  <a:pt x="4448175" y="2756714"/>
                  <a:pt x="4414064" y="2790825"/>
                  <a:pt x="4371985" y="2790825"/>
                </a:cubicBezTo>
                <a:lnTo>
                  <a:pt x="76190" y="2790825"/>
                </a:lnTo>
                <a:cubicBezTo>
                  <a:pt x="34111" y="2790825"/>
                  <a:pt x="0" y="2756714"/>
                  <a:pt x="0" y="2714635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1533525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Models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925" y="1914525"/>
            <a:ext cx="4133850" cy="647700"/>
          </a:xfrm>
          <a:custGeom>
            <a:avLst/>
            <a:gdLst/>
            <a:ahLst/>
            <a:cxnLst/>
            <a:rect l="l" t="t" r="r" b="b"/>
            <a:pathLst>
              <a:path w="4133850" h="647700">
                <a:moveTo>
                  <a:pt x="38098" y="0"/>
                </a:moveTo>
                <a:lnTo>
                  <a:pt x="4095752" y="0"/>
                </a:lnTo>
                <a:cubicBezTo>
                  <a:pt x="4116779" y="0"/>
                  <a:pt x="4133850" y="17071"/>
                  <a:pt x="4133850" y="38098"/>
                </a:cubicBezTo>
                <a:lnTo>
                  <a:pt x="4133850" y="609602"/>
                </a:lnTo>
                <a:cubicBezTo>
                  <a:pt x="4133850" y="630643"/>
                  <a:pt x="4116793" y="647700"/>
                  <a:pt x="40957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7225" y="2028825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225" y="2257425"/>
            <a:ext cx="397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baseline for interpretability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638425"/>
            <a:ext cx="4133850" cy="647700"/>
          </a:xfrm>
          <a:custGeom>
            <a:avLst/>
            <a:gdLst/>
            <a:ahLst/>
            <a:cxnLst/>
            <a:rect l="l" t="t" r="r" b="b"/>
            <a:pathLst>
              <a:path w="4133850" h="647700">
                <a:moveTo>
                  <a:pt x="38098" y="0"/>
                </a:moveTo>
                <a:lnTo>
                  <a:pt x="4095752" y="0"/>
                </a:lnTo>
                <a:cubicBezTo>
                  <a:pt x="4116779" y="0"/>
                  <a:pt x="4133850" y="17071"/>
                  <a:pt x="4133850" y="38098"/>
                </a:cubicBezTo>
                <a:lnTo>
                  <a:pt x="4133850" y="609602"/>
                </a:lnTo>
                <a:cubicBezTo>
                  <a:pt x="4133850" y="630643"/>
                  <a:pt x="4116793" y="647700"/>
                  <a:pt x="40957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7225" y="2752725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Classifier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225" y="2981325"/>
            <a:ext cx="397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 with feature importance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3362325"/>
            <a:ext cx="4133850" cy="647700"/>
          </a:xfrm>
          <a:custGeom>
            <a:avLst/>
            <a:gdLst/>
            <a:ahLst/>
            <a:cxnLst/>
            <a:rect l="l" t="t" r="r" b="b"/>
            <a:pathLst>
              <a:path w="4133850" h="647700">
                <a:moveTo>
                  <a:pt x="38098" y="0"/>
                </a:moveTo>
                <a:lnTo>
                  <a:pt x="4095752" y="0"/>
                </a:lnTo>
                <a:cubicBezTo>
                  <a:pt x="4116779" y="0"/>
                  <a:pt x="4133850" y="17071"/>
                  <a:pt x="4133850" y="38098"/>
                </a:cubicBezTo>
                <a:lnTo>
                  <a:pt x="4133850" y="609602"/>
                </a:lnTo>
                <a:cubicBezTo>
                  <a:pt x="4133850" y="630643"/>
                  <a:pt x="4116793" y="647700"/>
                  <a:pt x="40957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7225" y="3476625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 / LightGBM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705225"/>
            <a:ext cx="397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for superior performance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4595813"/>
            <a:ext cx="4448175" cy="1914525"/>
          </a:xfrm>
          <a:custGeom>
            <a:avLst/>
            <a:gdLst/>
            <a:ahLst/>
            <a:cxnLst/>
            <a:rect l="l" t="t" r="r" b="b"/>
            <a:pathLst>
              <a:path w="4448175" h="1914525">
                <a:moveTo>
                  <a:pt x="76198" y="0"/>
                </a:moveTo>
                <a:lnTo>
                  <a:pt x="4371977" y="0"/>
                </a:lnTo>
                <a:cubicBezTo>
                  <a:pt x="4414060" y="0"/>
                  <a:pt x="4448175" y="34115"/>
                  <a:pt x="4448175" y="76198"/>
                </a:cubicBezTo>
                <a:lnTo>
                  <a:pt x="4448175" y="1838327"/>
                </a:lnTo>
                <a:cubicBezTo>
                  <a:pt x="4448175" y="1880410"/>
                  <a:pt x="4414060" y="1914525"/>
                  <a:pt x="4371977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925" y="4752975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 Strategy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5095875"/>
            <a:ext cx="4210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SelectKBest with ANOVA F-test scoring to select top 20 features.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5667375"/>
            <a:ext cx="4133850" cy="685800"/>
          </a:xfrm>
          <a:custGeom>
            <a:avLst/>
            <a:gdLst/>
            <a:ahLst/>
            <a:cxnLst/>
            <a:rect l="l" t="t" r="r" b="b"/>
            <a:pathLst>
              <a:path w="4133850" h="685800">
                <a:moveTo>
                  <a:pt x="38103" y="0"/>
                </a:moveTo>
                <a:lnTo>
                  <a:pt x="4095747" y="0"/>
                </a:lnTo>
                <a:cubicBezTo>
                  <a:pt x="4116791" y="0"/>
                  <a:pt x="4133850" y="17059"/>
                  <a:pt x="4133850" y="38103"/>
                </a:cubicBezTo>
                <a:lnTo>
                  <a:pt x="4133850" y="647697"/>
                </a:lnTo>
                <a:cubicBezTo>
                  <a:pt x="4133850" y="668741"/>
                  <a:pt x="4116791" y="685800"/>
                  <a:pt x="40957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7688" y="5743575"/>
            <a:ext cx="412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 → 20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788" y="6086475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after selection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33963" y="1376363"/>
            <a:ext cx="6772275" cy="3324225"/>
          </a:xfrm>
          <a:custGeom>
            <a:avLst/>
            <a:gdLst/>
            <a:ahLst/>
            <a:cxnLst/>
            <a:rect l="l" t="t" r="r" b="b"/>
            <a:pathLst>
              <a:path w="6772275" h="3324225">
                <a:moveTo>
                  <a:pt x="76191" y="0"/>
                </a:moveTo>
                <a:lnTo>
                  <a:pt x="6696084" y="0"/>
                </a:lnTo>
                <a:cubicBezTo>
                  <a:pt x="6738163" y="0"/>
                  <a:pt x="6772275" y="34112"/>
                  <a:pt x="6772275" y="76191"/>
                </a:cubicBezTo>
                <a:lnTo>
                  <a:pt x="6772275" y="3248034"/>
                </a:lnTo>
                <a:cubicBezTo>
                  <a:pt x="6772275" y="3290113"/>
                  <a:pt x="6738163" y="3324225"/>
                  <a:pt x="6696084" y="3324225"/>
                </a:cubicBezTo>
                <a:lnTo>
                  <a:pt x="76191" y="3324225"/>
                </a:lnTo>
                <a:cubicBezTo>
                  <a:pt x="34112" y="3324225"/>
                  <a:pt x="0" y="3290113"/>
                  <a:pt x="0" y="32480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1125" y="1533525"/>
            <a:ext cx="655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Selected Features by ANOVA F-score</a:t>
            </a:r>
            <a:endParaRPr lang="en-US" sz="1600" dirty="0"/>
          </a:p>
        </p:txBody>
      </p:sp>
      <p:pic>
        <p:nvPicPr>
          <p:cNvPr id="25" name="Image 0" descr="https://kimi-img.moonshot.cn/pub/slides/26-01-26-07:24:08-d5rac62d7de2eva235e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91125" y="1876425"/>
            <a:ext cx="645795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5033963" y="4862513"/>
            <a:ext cx="2152650" cy="1647825"/>
          </a:xfrm>
          <a:custGeom>
            <a:avLst/>
            <a:gdLst/>
            <a:ahLst/>
            <a:cxnLst/>
            <a:rect l="l" t="t" r="r" b="b"/>
            <a:pathLst>
              <a:path w="2152650" h="1647825">
                <a:moveTo>
                  <a:pt x="76195" y="0"/>
                </a:moveTo>
                <a:lnTo>
                  <a:pt x="2076455" y="0"/>
                </a:lnTo>
                <a:cubicBezTo>
                  <a:pt x="2118508" y="0"/>
                  <a:pt x="2152650" y="34142"/>
                  <a:pt x="2152650" y="76195"/>
                </a:cubicBezTo>
                <a:lnTo>
                  <a:pt x="2152650" y="1571630"/>
                </a:lnTo>
                <a:cubicBezTo>
                  <a:pt x="2152650" y="1613711"/>
                  <a:pt x="2118536" y="1647825"/>
                  <a:pt x="2076455" y="1647825"/>
                </a:cubicBezTo>
                <a:lnTo>
                  <a:pt x="76195" y="1647825"/>
                </a:lnTo>
                <a:cubicBezTo>
                  <a:pt x="34142" y="1647825"/>
                  <a:pt x="0" y="1613683"/>
                  <a:pt x="0" y="15716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91125" y="5019675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Strategy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91125" y="5362575"/>
            <a:ext cx="19145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Emphasis: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Recall prioritization due to high cost of false negatives in cybersecurity contexts.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45338" y="4862513"/>
            <a:ext cx="2152650" cy="1647825"/>
          </a:xfrm>
          <a:custGeom>
            <a:avLst/>
            <a:gdLst/>
            <a:ahLst/>
            <a:cxnLst/>
            <a:rect l="l" t="t" r="r" b="b"/>
            <a:pathLst>
              <a:path w="2152650" h="1647825">
                <a:moveTo>
                  <a:pt x="76195" y="0"/>
                </a:moveTo>
                <a:lnTo>
                  <a:pt x="2076455" y="0"/>
                </a:lnTo>
                <a:cubicBezTo>
                  <a:pt x="2118508" y="0"/>
                  <a:pt x="2152650" y="34142"/>
                  <a:pt x="2152650" y="76195"/>
                </a:cubicBezTo>
                <a:lnTo>
                  <a:pt x="2152650" y="1571630"/>
                </a:lnTo>
                <a:cubicBezTo>
                  <a:pt x="2152650" y="1613711"/>
                  <a:pt x="2118536" y="1647825"/>
                  <a:pt x="2076455" y="1647825"/>
                </a:cubicBezTo>
                <a:lnTo>
                  <a:pt x="76195" y="1647825"/>
                </a:lnTo>
                <a:cubicBezTo>
                  <a:pt x="34142" y="1647825"/>
                  <a:pt x="0" y="1613683"/>
                  <a:pt x="0" y="15716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02500" y="5019675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531075" y="53959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2" name="Text 29"/>
          <p:cNvSpPr/>
          <p:nvPr/>
        </p:nvSpPr>
        <p:spPr>
          <a:xfrm>
            <a:off x="7721575" y="536257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 stratified CV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31075" y="56626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4" name="Text 31"/>
          <p:cNvSpPr/>
          <p:nvPr/>
        </p:nvSpPr>
        <p:spPr>
          <a:xfrm>
            <a:off x="7721575" y="562927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tuning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531075" y="59293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6" name="Text 33"/>
          <p:cNvSpPr/>
          <p:nvPr/>
        </p:nvSpPr>
        <p:spPr>
          <a:xfrm>
            <a:off x="7721575" y="589597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state = 42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9656713" y="4862513"/>
            <a:ext cx="2152650" cy="1647825"/>
          </a:xfrm>
          <a:custGeom>
            <a:avLst/>
            <a:gdLst/>
            <a:ahLst/>
            <a:cxnLst/>
            <a:rect l="l" t="t" r="r" b="b"/>
            <a:pathLst>
              <a:path w="2152650" h="1647825">
                <a:moveTo>
                  <a:pt x="76195" y="0"/>
                </a:moveTo>
                <a:lnTo>
                  <a:pt x="2076455" y="0"/>
                </a:lnTo>
                <a:cubicBezTo>
                  <a:pt x="2118508" y="0"/>
                  <a:pt x="2152650" y="34142"/>
                  <a:pt x="2152650" y="76195"/>
                </a:cubicBezTo>
                <a:lnTo>
                  <a:pt x="2152650" y="1571630"/>
                </a:lnTo>
                <a:cubicBezTo>
                  <a:pt x="2152650" y="1613711"/>
                  <a:pt x="2118536" y="1647825"/>
                  <a:pt x="2076455" y="1647825"/>
                </a:cubicBezTo>
                <a:lnTo>
                  <a:pt x="76195" y="1647825"/>
                </a:lnTo>
                <a:cubicBezTo>
                  <a:pt x="34142" y="1647825"/>
                  <a:pt x="0" y="1613683"/>
                  <a:pt x="0" y="15716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13875" y="5019675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813875" y="5362575"/>
            <a:ext cx="1914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Dominance: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TTL-related features show exceptional predictive power.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spc="55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849" y="631528"/>
            <a:ext cx="11648184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Classification: Benign vs Malicious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849" y="1087632"/>
            <a:ext cx="842037" cy="35085"/>
          </a:xfrm>
          <a:custGeom>
            <a:avLst/>
            <a:gdLst/>
            <a:ahLst/>
            <a:cxnLst/>
            <a:rect l="l" t="t" r="r" b="b"/>
            <a:pathLst>
              <a:path w="842037" h="35085">
                <a:moveTo>
                  <a:pt x="0" y="0"/>
                </a:moveTo>
                <a:lnTo>
                  <a:pt x="842037" y="0"/>
                </a:lnTo>
                <a:lnTo>
                  <a:pt x="842037" y="35085"/>
                </a:lnTo>
                <a:lnTo>
                  <a:pt x="0" y="35085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50849" y="1267442"/>
            <a:ext cx="6503862" cy="5332904"/>
          </a:xfrm>
          <a:custGeom>
            <a:avLst/>
            <a:gdLst/>
            <a:ahLst/>
            <a:cxnLst/>
            <a:rect l="l" t="t" r="r" b="b"/>
            <a:pathLst>
              <a:path w="6503862" h="5332904">
                <a:moveTo>
                  <a:pt x="70228" y="0"/>
                </a:moveTo>
                <a:lnTo>
                  <a:pt x="6433634" y="0"/>
                </a:lnTo>
                <a:cubicBezTo>
                  <a:pt x="6472420" y="0"/>
                  <a:pt x="6503862" y="28771"/>
                  <a:pt x="6503862" y="64261"/>
                </a:cubicBezTo>
                <a:lnTo>
                  <a:pt x="6503862" y="5268642"/>
                </a:lnTo>
                <a:cubicBezTo>
                  <a:pt x="6503862" y="5304133"/>
                  <a:pt x="6472420" y="5332904"/>
                  <a:pt x="6433634" y="5332904"/>
                </a:cubicBezTo>
                <a:lnTo>
                  <a:pt x="70228" y="5332904"/>
                </a:lnTo>
                <a:cubicBezTo>
                  <a:pt x="31442" y="5332904"/>
                  <a:pt x="0" y="5304133"/>
                  <a:pt x="0" y="5268642"/>
                </a:cubicBezTo>
                <a:lnTo>
                  <a:pt x="0" y="64261"/>
                </a:lnTo>
                <a:cubicBezTo>
                  <a:pt x="0" y="28771"/>
                  <a:pt x="31442" y="0"/>
                  <a:pt x="7022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9960" y="1412167"/>
            <a:ext cx="6297738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 (Cross-Validation)</a:t>
            </a:r>
            <a:endParaRPr lang="en-US" sz="1600" dirty="0"/>
          </a:p>
        </p:txBody>
      </p:sp>
      <p:pic>
        <p:nvPicPr>
          <p:cNvPr id="7" name="Image 0" descr="https://kimi-img.moonshot.cn/pub/slides/26-01-26-07:24:07-d5rac5vftae305scq23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9960" y="1727931"/>
            <a:ext cx="5657439" cy="2631367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99960" y="4464553"/>
            <a:ext cx="6210026" cy="947292"/>
          </a:xfrm>
          <a:custGeom>
            <a:avLst/>
            <a:gdLst/>
            <a:ahLst/>
            <a:cxnLst/>
            <a:rect l="l" t="t" r="r" b="b"/>
            <a:pathLst>
              <a:path w="6210026" h="947292">
                <a:moveTo>
                  <a:pt x="35088" y="0"/>
                </a:moveTo>
                <a:lnTo>
                  <a:pt x="6174938" y="0"/>
                </a:lnTo>
                <a:cubicBezTo>
                  <a:pt x="6194317" y="0"/>
                  <a:pt x="6210026" y="15709"/>
                  <a:pt x="6210026" y="35088"/>
                </a:cubicBezTo>
                <a:lnTo>
                  <a:pt x="6210026" y="912204"/>
                </a:lnTo>
                <a:cubicBezTo>
                  <a:pt x="6210026" y="931583"/>
                  <a:pt x="6194317" y="947292"/>
                  <a:pt x="6174938" y="947292"/>
                </a:cubicBezTo>
                <a:lnTo>
                  <a:pt x="35088" y="947292"/>
                </a:lnTo>
                <a:cubicBezTo>
                  <a:pt x="15709" y="947292"/>
                  <a:pt x="0" y="931583"/>
                  <a:pt x="0" y="912204"/>
                </a:cubicBezTo>
                <a:lnTo>
                  <a:pt x="0" y="35088"/>
                </a:lnTo>
                <a:cubicBezTo>
                  <a:pt x="0" y="15722"/>
                  <a:pt x="15722" y="0"/>
                  <a:pt x="3508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05214" y="4569807"/>
            <a:ext cx="6069686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5214" y="4850486"/>
            <a:ext cx="6069686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pPr>
              <a:lnSpc>
                <a:spcPct val="140000"/>
              </a:lnSpc>
            </a:pPr>
            <a:r>
              <a:rPr lang="en-US" sz="110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achieves superior recall (92.3%) while maintaining strong precision. </a:t>
            </a:r>
            <a:pPr>
              <a:lnSpc>
                <a:spcPct val="140000"/>
              </a:lnSpc>
            </a:pPr>
            <a:r>
              <a:rPr lang="en-US" sz="1105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>
              <a:lnSpc>
                <a:spcPct val="140000"/>
              </a:lnSpc>
            </a:pPr>
            <a:r>
              <a:rPr lang="en-US" sz="110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balanced F1-score. All models significantly outperform the majority class baseline.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02383" y="1267442"/>
            <a:ext cx="4832944" cy="2324374"/>
          </a:xfrm>
          <a:custGeom>
            <a:avLst/>
            <a:gdLst/>
            <a:ahLst/>
            <a:cxnLst/>
            <a:rect l="l" t="t" r="r" b="b"/>
            <a:pathLst>
              <a:path w="4832944" h="2324374">
                <a:moveTo>
                  <a:pt x="70173" y="0"/>
                </a:moveTo>
                <a:lnTo>
                  <a:pt x="4762771" y="0"/>
                </a:lnTo>
                <a:cubicBezTo>
                  <a:pt x="4801526" y="0"/>
                  <a:pt x="4832944" y="31417"/>
                  <a:pt x="4832944" y="70173"/>
                </a:cubicBezTo>
                <a:lnTo>
                  <a:pt x="4832944" y="2254201"/>
                </a:lnTo>
                <a:cubicBezTo>
                  <a:pt x="4832944" y="2292931"/>
                  <a:pt x="4801500" y="2324374"/>
                  <a:pt x="4762771" y="2324374"/>
                </a:cubicBezTo>
                <a:lnTo>
                  <a:pt x="70173" y="2324374"/>
                </a:lnTo>
                <a:cubicBezTo>
                  <a:pt x="31417" y="2324374"/>
                  <a:pt x="0" y="2292957"/>
                  <a:pt x="0" y="2254201"/>
                </a:cubicBezTo>
                <a:lnTo>
                  <a:pt x="0" y="70173"/>
                </a:lnTo>
                <a:cubicBezTo>
                  <a:pt x="0" y="31443"/>
                  <a:pt x="31443" y="0"/>
                  <a:pt x="7017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07637" y="1412167"/>
            <a:ext cx="462243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Characteristics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47108" y="1763016"/>
            <a:ext cx="4543494" cy="806953"/>
          </a:xfrm>
          <a:custGeom>
            <a:avLst/>
            <a:gdLst/>
            <a:ahLst/>
            <a:cxnLst/>
            <a:rect l="l" t="t" r="r" b="b"/>
            <a:pathLst>
              <a:path w="4543494" h="806953">
                <a:moveTo>
                  <a:pt x="35086" y="0"/>
                </a:moveTo>
                <a:lnTo>
                  <a:pt x="4508407" y="0"/>
                </a:lnTo>
                <a:cubicBezTo>
                  <a:pt x="4527785" y="0"/>
                  <a:pt x="4543494" y="15709"/>
                  <a:pt x="4543494" y="35086"/>
                </a:cubicBezTo>
                <a:lnTo>
                  <a:pt x="4543494" y="771866"/>
                </a:lnTo>
                <a:cubicBezTo>
                  <a:pt x="4543494" y="791244"/>
                  <a:pt x="4527785" y="806953"/>
                  <a:pt x="4508407" y="806953"/>
                </a:cubicBezTo>
                <a:lnTo>
                  <a:pt x="35086" y="806953"/>
                </a:lnTo>
                <a:cubicBezTo>
                  <a:pt x="15709" y="806953"/>
                  <a:pt x="0" y="791244"/>
                  <a:pt x="0" y="771866"/>
                </a:cubicBezTo>
                <a:lnTo>
                  <a:pt x="0" y="35086"/>
                </a:lnTo>
                <a:cubicBezTo>
                  <a:pt x="0" y="15722"/>
                  <a:pt x="15722" y="0"/>
                  <a:pt x="3508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217278" y="1833186"/>
            <a:ext cx="4473324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Distribution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17278" y="2078780"/>
            <a:ext cx="55258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Normal: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60490" y="2078780"/>
            <a:ext cx="53504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95.02%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17278" y="2289289"/>
            <a:ext cx="491188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Attack: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248888" y="2289289"/>
            <a:ext cx="44733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4.98%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147108" y="2640138"/>
            <a:ext cx="4543494" cy="806953"/>
          </a:xfrm>
          <a:custGeom>
            <a:avLst/>
            <a:gdLst/>
            <a:ahLst/>
            <a:cxnLst/>
            <a:rect l="l" t="t" r="r" b="b"/>
            <a:pathLst>
              <a:path w="4543494" h="806953">
                <a:moveTo>
                  <a:pt x="35086" y="0"/>
                </a:moveTo>
                <a:lnTo>
                  <a:pt x="4508407" y="0"/>
                </a:lnTo>
                <a:cubicBezTo>
                  <a:pt x="4527785" y="0"/>
                  <a:pt x="4543494" y="15709"/>
                  <a:pt x="4543494" y="35086"/>
                </a:cubicBezTo>
                <a:lnTo>
                  <a:pt x="4543494" y="771866"/>
                </a:lnTo>
                <a:cubicBezTo>
                  <a:pt x="4543494" y="791244"/>
                  <a:pt x="4527785" y="806953"/>
                  <a:pt x="4508407" y="806953"/>
                </a:cubicBezTo>
                <a:lnTo>
                  <a:pt x="35086" y="806953"/>
                </a:lnTo>
                <a:cubicBezTo>
                  <a:pt x="15709" y="806953"/>
                  <a:pt x="0" y="791244"/>
                  <a:pt x="0" y="771866"/>
                </a:cubicBezTo>
                <a:lnTo>
                  <a:pt x="0" y="35086"/>
                </a:lnTo>
                <a:cubicBezTo>
                  <a:pt x="0" y="15722"/>
                  <a:pt x="15722" y="0"/>
                  <a:pt x="3508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217278" y="2710308"/>
            <a:ext cx="4473324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Set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17278" y="2955902"/>
            <a:ext cx="4490866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49,997 samples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217278" y="3201496"/>
            <a:ext cx="446455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deduplication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002383" y="3705842"/>
            <a:ext cx="4832944" cy="1552506"/>
          </a:xfrm>
          <a:custGeom>
            <a:avLst/>
            <a:gdLst/>
            <a:ahLst/>
            <a:cxnLst/>
            <a:rect l="l" t="t" r="r" b="b"/>
            <a:pathLst>
              <a:path w="4832944" h="1552506">
                <a:moveTo>
                  <a:pt x="70173" y="0"/>
                </a:moveTo>
                <a:lnTo>
                  <a:pt x="4762771" y="0"/>
                </a:lnTo>
                <a:cubicBezTo>
                  <a:pt x="4801526" y="0"/>
                  <a:pt x="4832944" y="31418"/>
                  <a:pt x="4832944" y="70173"/>
                </a:cubicBezTo>
                <a:lnTo>
                  <a:pt x="4832944" y="1482333"/>
                </a:lnTo>
                <a:cubicBezTo>
                  <a:pt x="4832944" y="1521089"/>
                  <a:pt x="4801526" y="1552506"/>
                  <a:pt x="4762771" y="1552506"/>
                </a:cubicBezTo>
                <a:lnTo>
                  <a:pt x="70173" y="1552506"/>
                </a:lnTo>
                <a:cubicBezTo>
                  <a:pt x="31418" y="1552506"/>
                  <a:pt x="0" y="1521089"/>
                  <a:pt x="0" y="1482333"/>
                </a:cubicBezTo>
                <a:lnTo>
                  <a:pt x="0" y="70173"/>
                </a:lnTo>
                <a:cubicBezTo>
                  <a:pt x="0" y="31444"/>
                  <a:pt x="31444" y="0"/>
                  <a:pt x="7017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47108" y="3850567"/>
            <a:ext cx="462243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Predictive Features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147108" y="4183873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35085" y="0"/>
                </a:moveTo>
                <a:lnTo>
                  <a:pt x="140340" y="0"/>
                </a:lnTo>
                <a:cubicBezTo>
                  <a:pt x="159716" y="0"/>
                  <a:pt x="175424" y="15708"/>
                  <a:pt x="175424" y="35085"/>
                </a:cubicBezTo>
                <a:lnTo>
                  <a:pt x="175424" y="140340"/>
                </a:lnTo>
                <a:cubicBezTo>
                  <a:pt x="175424" y="159716"/>
                  <a:pt x="159716" y="175424"/>
                  <a:pt x="140340" y="175424"/>
                </a:cubicBezTo>
                <a:lnTo>
                  <a:pt x="35085" y="175424"/>
                </a:lnTo>
                <a:cubicBezTo>
                  <a:pt x="15708" y="175424"/>
                  <a:pt x="0" y="159716"/>
                  <a:pt x="0" y="140340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6" name="Text 23"/>
          <p:cNvSpPr/>
          <p:nvPr/>
        </p:nvSpPr>
        <p:spPr>
          <a:xfrm>
            <a:off x="7120794" y="4183873"/>
            <a:ext cx="228052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92702" y="4166331"/>
            <a:ext cx="73678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sttl: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65,563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147108" y="4429468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35085" y="0"/>
                </a:moveTo>
                <a:lnTo>
                  <a:pt x="140340" y="0"/>
                </a:lnTo>
                <a:cubicBezTo>
                  <a:pt x="159716" y="0"/>
                  <a:pt x="175424" y="15708"/>
                  <a:pt x="175424" y="35085"/>
                </a:cubicBezTo>
                <a:lnTo>
                  <a:pt x="175424" y="140340"/>
                </a:lnTo>
                <a:cubicBezTo>
                  <a:pt x="175424" y="159716"/>
                  <a:pt x="159716" y="175424"/>
                  <a:pt x="140340" y="175424"/>
                </a:cubicBezTo>
                <a:lnTo>
                  <a:pt x="35085" y="175424"/>
                </a:lnTo>
                <a:cubicBezTo>
                  <a:pt x="15708" y="175424"/>
                  <a:pt x="0" y="159716"/>
                  <a:pt x="0" y="140340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9" name="Text 26"/>
          <p:cNvSpPr/>
          <p:nvPr/>
        </p:nvSpPr>
        <p:spPr>
          <a:xfrm>
            <a:off x="7120794" y="4429468"/>
            <a:ext cx="228052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92702" y="4411925"/>
            <a:ext cx="1227971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ct_state_ttl: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30,982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147108" y="4675062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35085" y="0"/>
                </a:moveTo>
                <a:lnTo>
                  <a:pt x="140340" y="0"/>
                </a:lnTo>
                <a:cubicBezTo>
                  <a:pt x="159716" y="0"/>
                  <a:pt x="175424" y="15708"/>
                  <a:pt x="175424" y="35085"/>
                </a:cubicBezTo>
                <a:lnTo>
                  <a:pt x="175424" y="140340"/>
                </a:lnTo>
                <a:cubicBezTo>
                  <a:pt x="175424" y="159716"/>
                  <a:pt x="159716" y="175424"/>
                  <a:pt x="140340" y="175424"/>
                </a:cubicBezTo>
                <a:lnTo>
                  <a:pt x="35085" y="175424"/>
                </a:lnTo>
                <a:cubicBezTo>
                  <a:pt x="15708" y="175424"/>
                  <a:pt x="0" y="159716"/>
                  <a:pt x="0" y="140340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2" name="Text 29"/>
          <p:cNvSpPr/>
          <p:nvPr/>
        </p:nvSpPr>
        <p:spPr>
          <a:xfrm>
            <a:off x="7120794" y="4675062"/>
            <a:ext cx="228052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92702" y="4657519"/>
            <a:ext cx="71046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dttl: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21,675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147108" y="4920656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35085" y="0"/>
                </a:moveTo>
                <a:lnTo>
                  <a:pt x="140340" y="0"/>
                </a:lnTo>
                <a:cubicBezTo>
                  <a:pt x="159716" y="0"/>
                  <a:pt x="175424" y="15708"/>
                  <a:pt x="175424" y="35085"/>
                </a:cubicBezTo>
                <a:lnTo>
                  <a:pt x="175424" y="140340"/>
                </a:lnTo>
                <a:cubicBezTo>
                  <a:pt x="175424" y="159716"/>
                  <a:pt x="159716" y="175424"/>
                  <a:pt x="140340" y="175424"/>
                </a:cubicBezTo>
                <a:lnTo>
                  <a:pt x="35085" y="175424"/>
                </a:lnTo>
                <a:cubicBezTo>
                  <a:pt x="15708" y="175424"/>
                  <a:pt x="0" y="159716"/>
                  <a:pt x="0" y="140340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5" name="Text 32"/>
          <p:cNvSpPr/>
          <p:nvPr/>
        </p:nvSpPr>
        <p:spPr>
          <a:xfrm>
            <a:off x="7120794" y="4920656"/>
            <a:ext cx="228052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392702" y="4903114"/>
            <a:ext cx="938521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ttl_diff: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23,665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002383" y="5372374"/>
            <a:ext cx="4832944" cy="1719160"/>
          </a:xfrm>
          <a:custGeom>
            <a:avLst/>
            <a:gdLst/>
            <a:ahLst/>
            <a:cxnLst/>
            <a:rect l="l" t="t" r="r" b="b"/>
            <a:pathLst>
              <a:path w="4832944" h="1719160">
                <a:moveTo>
                  <a:pt x="70176" y="0"/>
                </a:moveTo>
                <a:lnTo>
                  <a:pt x="4762768" y="0"/>
                </a:lnTo>
                <a:cubicBezTo>
                  <a:pt x="4801525" y="0"/>
                  <a:pt x="4832944" y="31419"/>
                  <a:pt x="4832944" y="70176"/>
                </a:cubicBezTo>
                <a:lnTo>
                  <a:pt x="4832944" y="1648984"/>
                </a:lnTo>
                <a:cubicBezTo>
                  <a:pt x="4832944" y="1687741"/>
                  <a:pt x="4801525" y="1719160"/>
                  <a:pt x="4762768" y="1719160"/>
                </a:cubicBezTo>
                <a:lnTo>
                  <a:pt x="70176" y="1719160"/>
                </a:lnTo>
                <a:cubicBezTo>
                  <a:pt x="31419" y="1719160"/>
                  <a:pt x="0" y="1687741"/>
                  <a:pt x="0" y="1648984"/>
                </a:cubicBezTo>
                <a:lnTo>
                  <a:pt x="0" y="70176"/>
                </a:lnTo>
                <a:cubicBezTo>
                  <a:pt x="0" y="31419"/>
                  <a:pt x="31419" y="0"/>
                  <a:pt x="70176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47108" y="5517099"/>
            <a:ext cx="462243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Holdout Validation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147108" y="5832863"/>
            <a:ext cx="4613663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evaluation on 10,000 unseen samples from File 4 confirms generalization.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147108" y="6359137"/>
            <a:ext cx="4543494" cy="350849"/>
          </a:xfrm>
          <a:custGeom>
            <a:avLst/>
            <a:gdLst/>
            <a:ahLst/>
            <a:cxnLst/>
            <a:rect l="l" t="t" r="r" b="b"/>
            <a:pathLst>
              <a:path w="4543494" h="350849">
                <a:moveTo>
                  <a:pt x="35085" y="0"/>
                </a:moveTo>
                <a:lnTo>
                  <a:pt x="4508409" y="0"/>
                </a:lnTo>
                <a:cubicBezTo>
                  <a:pt x="4527785" y="0"/>
                  <a:pt x="4543494" y="15708"/>
                  <a:pt x="4543494" y="35085"/>
                </a:cubicBezTo>
                <a:lnTo>
                  <a:pt x="4543494" y="315764"/>
                </a:lnTo>
                <a:cubicBezTo>
                  <a:pt x="4543494" y="335141"/>
                  <a:pt x="4527785" y="350849"/>
                  <a:pt x="4508409" y="350849"/>
                </a:cubicBezTo>
                <a:lnTo>
                  <a:pt x="35085" y="350849"/>
                </a:lnTo>
                <a:cubicBezTo>
                  <a:pt x="15708" y="350849"/>
                  <a:pt x="0" y="335141"/>
                  <a:pt x="0" y="315764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234820" y="6460006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70170" y="140340"/>
                </a:moveTo>
                <a:cubicBezTo>
                  <a:pt x="108898" y="140340"/>
                  <a:pt x="140340" y="108898"/>
                  <a:pt x="140340" y="70170"/>
                </a:cubicBezTo>
                <a:cubicBezTo>
                  <a:pt x="140340" y="31442"/>
                  <a:pt x="108898" y="0"/>
                  <a:pt x="70170" y="0"/>
                </a:cubicBezTo>
                <a:cubicBezTo>
                  <a:pt x="31442" y="0"/>
                  <a:pt x="0" y="31442"/>
                  <a:pt x="0" y="70170"/>
                </a:cubicBezTo>
                <a:cubicBezTo>
                  <a:pt x="0" y="108898"/>
                  <a:pt x="31442" y="140340"/>
                  <a:pt x="70170" y="140340"/>
                </a:cubicBezTo>
                <a:close/>
                <a:moveTo>
                  <a:pt x="61399" y="43856"/>
                </a:moveTo>
                <a:cubicBezTo>
                  <a:pt x="61399" y="39015"/>
                  <a:pt x="65329" y="35085"/>
                  <a:pt x="70170" y="35085"/>
                </a:cubicBezTo>
                <a:cubicBezTo>
                  <a:pt x="75011" y="35085"/>
                  <a:pt x="78941" y="39015"/>
                  <a:pt x="78941" y="43856"/>
                </a:cubicBezTo>
                <a:cubicBezTo>
                  <a:pt x="78941" y="48697"/>
                  <a:pt x="75011" y="52627"/>
                  <a:pt x="70170" y="52627"/>
                </a:cubicBezTo>
                <a:cubicBezTo>
                  <a:pt x="65329" y="52627"/>
                  <a:pt x="61399" y="48697"/>
                  <a:pt x="61399" y="43856"/>
                </a:cubicBezTo>
                <a:close/>
                <a:moveTo>
                  <a:pt x="59206" y="61399"/>
                </a:moveTo>
                <a:lnTo>
                  <a:pt x="72363" y="61399"/>
                </a:lnTo>
                <a:cubicBezTo>
                  <a:pt x="76008" y="61399"/>
                  <a:pt x="78941" y="64331"/>
                  <a:pt x="78941" y="67977"/>
                </a:cubicBezTo>
                <a:lnTo>
                  <a:pt x="78941" y="92098"/>
                </a:lnTo>
                <a:lnTo>
                  <a:pt x="81134" y="92098"/>
                </a:lnTo>
                <a:cubicBezTo>
                  <a:pt x="84779" y="92098"/>
                  <a:pt x="87712" y="95031"/>
                  <a:pt x="87712" y="98676"/>
                </a:cubicBezTo>
                <a:cubicBezTo>
                  <a:pt x="87712" y="102322"/>
                  <a:pt x="84779" y="105255"/>
                  <a:pt x="81134" y="105255"/>
                </a:cubicBezTo>
                <a:lnTo>
                  <a:pt x="59206" y="105255"/>
                </a:lnTo>
                <a:cubicBezTo>
                  <a:pt x="55560" y="105255"/>
                  <a:pt x="52627" y="102322"/>
                  <a:pt x="52627" y="98676"/>
                </a:cubicBezTo>
                <a:cubicBezTo>
                  <a:pt x="52627" y="95031"/>
                  <a:pt x="55560" y="92098"/>
                  <a:pt x="59206" y="92098"/>
                </a:cubicBezTo>
                <a:lnTo>
                  <a:pt x="65784" y="92098"/>
                </a:lnTo>
                <a:lnTo>
                  <a:pt x="65784" y="74555"/>
                </a:lnTo>
                <a:lnTo>
                  <a:pt x="59206" y="74555"/>
                </a:lnTo>
                <a:cubicBezTo>
                  <a:pt x="55560" y="74555"/>
                  <a:pt x="52627" y="71623"/>
                  <a:pt x="52627" y="67977"/>
                </a:cubicBezTo>
                <a:cubicBezTo>
                  <a:pt x="52627" y="64331"/>
                  <a:pt x="55560" y="61399"/>
                  <a:pt x="59206" y="61399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2" name="Text 39"/>
          <p:cNvSpPr/>
          <p:nvPr/>
        </p:nvSpPr>
        <p:spPr>
          <a:xfrm>
            <a:off x="7416933" y="6429306"/>
            <a:ext cx="4273668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overlap (60 records, 0.6%)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MULTI-CLASS DETECTION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Multi-Class Classification: Attack Category Detection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3695700" cy="3609975"/>
          </a:xfrm>
          <a:custGeom>
            <a:avLst/>
            <a:gdLst/>
            <a:ahLst/>
            <a:cxnLst/>
            <a:rect l="l" t="t" r="r" b="b"/>
            <a:pathLst>
              <a:path w="3695700" h="3609975">
                <a:moveTo>
                  <a:pt x="76207" y="0"/>
                </a:moveTo>
                <a:lnTo>
                  <a:pt x="3619493" y="0"/>
                </a:lnTo>
                <a:cubicBezTo>
                  <a:pt x="3661581" y="0"/>
                  <a:pt x="3695700" y="34119"/>
                  <a:pt x="3695700" y="76207"/>
                </a:cubicBezTo>
                <a:lnTo>
                  <a:pt x="3695700" y="3533768"/>
                </a:lnTo>
                <a:cubicBezTo>
                  <a:pt x="3695700" y="3575856"/>
                  <a:pt x="3661581" y="3609975"/>
                  <a:pt x="3619493" y="3609975"/>
                </a:cubicBezTo>
                <a:lnTo>
                  <a:pt x="76207" y="3609975"/>
                </a:lnTo>
                <a:cubicBezTo>
                  <a:pt x="34119" y="3609975"/>
                  <a:pt x="0" y="3575856"/>
                  <a:pt x="0" y="3533768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624013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Categories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2005013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Nine distinct attack types with severe class imbalance, requiring recall-focused evaluation.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925" y="2795588"/>
            <a:ext cx="3381375" cy="381000"/>
          </a:xfrm>
          <a:custGeom>
            <a:avLst/>
            <a:gdLst/>
            <a:ahLst/>
            <a:cxnLst/>
            <a:rect l="l" t="t" r="r" b="b"/>
            <a:pathLst>
              <a:path w="3381375" h="381000">
                <a:moveTo>
                  <a:pt x="38100" y="0"/>
                </a:moveTo>
                <a:lnTo>
                  <a:pt x="3343275" y="0"/>
                </a:lnTo>
                <a:cubicBezTo>
                  <a:pt x="3364303" y="0"/>
                  <a:pt x="3381375" y="17072"/>
                  <a:pt x="3381375" y="38100"/>
                </a:cubicBezTo>
                <a:lnTo>
                  <a:pt x="3381375" y="342900"/>
                </a:lnTo>
                <a:cubicBezTo>
                  <a:pt x="3381375" y="363928"/>
                  <a:pt x="3364303" y="381000"/>
                  <a:pt x="33432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9125" y="2871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Exploits: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01057" y="2871788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659 (1.32%)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3214688"/>
            <a:ext cx="3381375" cy="381000"/>
          </a:xfrm>
          <a:custGeom>
            <a:avLst/>
            <a:gdLst/>
            <a:ahLst/>
            <a:cxnLst/>
            <a:rect l="l" t="t" r="r" b="b"/>
            <a:pathLst>
              <a:path w="3381375" h="381000">
                <a:moveTo>
                  <a:pt x="38100" y="0"/>
                </a:moveTo>
                <a:lnTo>
                  <a:pt x="3343275" y="0"/>
                </a:lnTo>
                <a:cubicBezTo>
                  <a:pt x="3364303" y="0"/>
                  <a:pt x="3381375" y="17072"/>
                  <a:pt x="3381375" y="38100"/>
                </a:cubicBezTo>
                <a:lnTo>
                  <a:pt x="3381375" y="342900"/>
                </a:lnTo>
                <a:cubicBezTo>
                  <a:pt x="3381375" y="363928"/>
                  <a:pt x="3364303" y="381000"/>
                  <a:pt x="33432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9125" y="3290888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Generic: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24051" y="3290888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604 (1.21%)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925" y="3633788"/>
            <a:ext cx="3381375" cy="381000"/>
          </a:xfrm>
          <a:custGeom>
            <a:avLst/>
            <a:gdLst/>
            <a:ahLst/>
            <a:cxnLst/>
            <a:rect l="l" t="t" r="r" b="b"/>
            <a:pathLst>
              <a:path w="3381375" h="381000">
                <a:moveTo>
                  <a:pt x="38100" y="0"/>
                </a:moveTo>
                <a:lnTo>
                  <a:pt x="3343275" y="0"/>
                </a:lnTo>
                <a:cubicBezTo>
                  <a:pt x="3364303" y="0"/>
                  <a:pt x="3381375" y="17072"/>
                  <a:pt x="3381375" y="38100"/>
                </a:cubicBezTo>
                <a:lnTo>
                  <a:pt x="3381375" y="342900"/>
                </a:lnTo>
                <a:cubicBezTo>
                  <a:pt x="3381375" y="363928"/>
                  <a:pt x="3364303" y="381000"/>
                  <a:pt x="33432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9125" y="37099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Fuzzers: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36255" y="3709988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559 (1.12%)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4052888"/>
            <a:ext cx="3381375" cy="381000"/>
          </a:xfrm>
          <a:custGeom>
            <a:avLst/>
            <a:gdLst/>
            <a:ahLst/>
            <a:cxnLst/>
            <a:rect l="l" t="t" r="r" b="b"/>
            <a:pathLst>
              <a:path w="3381375" h="381000">
                <a:moveTo>
                  <a:pt x="38100" y="0"/>
                </a:moveTo>
                <a:lnTo>
                  <a:pt x="3343275" y="0"/>
                </a:lnTo>
                <a:cubicBezTo>
                  <a:pt x="3364303" y="0"/>
                  <a:pt x="3381375" y="17072"/>
                  <a:pt x="3381375" y="38100"/>
                </a:cubicBezTo>
                <a:lnTo>
                  <a:pt x="3381375" y="342900"/>
                </a:lnTo>
                <a:cubicBezTo>
                  <a:pt x="3381375" y="363928"/>
                  <a:pt x="3364303" y="381000"/>
                  <a:pt x="33432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9125" y="4129088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Reconnaissance: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61171" y="4129088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226 (0.45%)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4471988"/>
            <a:ext cx="3381375" cy="266700"/>
          </a:xfrm>
          <a:custGeom>
            <a:avLst/>
            <a:gdLst/>
            <a:ahLst/>
            <a:cxnLst/>
            <a:rect l="l" t="t" r="r" b="b"/>
            <a:pathLst>
              <a:path w="3381375" h="266700">
                <a:moveTo>
                  <a:pt x="38101" y="0"/>
                </a:moveTo>
                <a:lnTo>
                  <a:pt x="3343274" y="0"/>
                </a:lnTo>
                <a:cubicBezTo>
                  <a:pt x="3364317" y="0"/>
                  <a:pt x="3381375" y="17058"/>
                  <a:pt x="3381375" y="38101"/>
                </a:cubicBezTo>
                <a:lnTo>
                  <a:pt x="3381375" y="228599"/>
                </a:lnTo>
                <a:cubicBezTo>
                  <a:pt x="3381375" y="249642"/>
                  <a:pt x="3364317" y="266700"/>
                  <a:pt x="3343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81025" y="4510088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5-9. Others: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94521" y="4510088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324 (0.65%)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6513" y="1376363"/>
            <a:ext cx="7562850" cy="3609975"/>
          </a:xfrm>
          <a:custGeom>
            <a:avLst/>
            <a:gdLst/>
            <a:ahLst/>
            <a:cxnLst/>
            <a:rect l="l" t="t" r="r" b="b"/>
            <a:pathLst>
              <a:path w="7562850" h="3609975">
                <a:moveTo>
                  <a:pt x="76207" y="0"/>
                </a:moveTo>
                <a:lnTo>
                  <a:pt x="7486643" y="0"/>
                </a:lnTo>
                <a:cubicBezTo>
                  <a:pt x="7528731" y="0"/>
                  <a:pt x="7562850" y="34119"/>
                  <a:pt x="7562850" y="76207"/>
                </a:cubicBezTo>
                <a:lnTo>
                  <a:pt x="7562850" y="3533768"/>
                </a:lnTo>
                <a:cubicBezTo>
                  <a:pt x="7562850" y="3575856"/>
                  <a:pt x="7528731" y="3609975"/>
                  <a:pt x="7486643" y="3609975"/>
                </a:cubicBezTo>
                <a:lnTo>
                  <a:pt x="76207" y="3609975"/>
                </a:lnTo>
                <a:cubicBezTo>
                  <a:pt x="34119" y="3609975"/>
                  <a:pt x="0" y="3575856"/>
                  <a:pt x="0" y="3533768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6B728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3675" y="1533525"/>
            <a:ext cx="7343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(Macro-Averaged)</a:t>
            </a:r>
            <a:endParaRPr lang="en-US" sz="1600" dirty="0"/>
          </a:p>
        </p:txBody>
      </p:sp>
      <p:pic>
        <p:nvPicPr>
          <p:cNvPr id="25" name="Image 0" descr="https://kimi-img.moonshot.cn/pub/slides/26-01-26-07:24:08-d5rac63o7or9mbkgf8l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03675" y="1876425"/>
            <a:ext cx="7248525" cy="2952750"/>
          </a:xfrm>
          <a:prstGeom prst="roundRect">
            <a:avLst>
              <a:gd name="adj" fmla="val 0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385763" y="5148263"/>
            <a:ext cx="3695700" cy="1323975"/>
          </a:xfrm>
          <a:custGeom>
            <a:avLst/>
            <a:gdLst/>
            <a:ahLst/>
            <a:cxnLst/>
            <a:rect l="l" t="t" r="r" b="b"/>
            <a:pathLst>
              <a:path w="3695700" h="1323975">
                <a:moveTo>
                  <a:pt x="76195" y="0"/>
                </a:moveTo>
                <a:lnTo>
                  <a:pt x="3619505" y="0"/>
                </a:lnTo>
                <a:cubicBezTo>
                  <a:pt x="3661586" y="0"/>
                  <a:pt x="3695700" y="34114"/>
                  <a:pt x="3695700" y="76195"/>
                </a:cubicBezTo>
                <a:lnTo>
                  <a:pt x="3695700" y="1247780"/>
                </a:lnTo>
                <a:cubicBezTo>
                  <a:pt x="3695700" y="1289861"/>
                  <a:pt x="3661586" y="1323975"/>
                  <a:pt x="3619505" y="1323975"/>
                </a:cubicBezTo>
                <a:lnTo>
                  <a:pt x="76195" y="1323975"/>
                </a:lnTo>
                <a:cubicBezTo>
                  <a:pt x="34114" y="1323975"/>
                  <a:pt x="0" y="1289861"/>
                  <a:pt x="0" y="1247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4825" y="5267325"/>
            <a:ext cx="354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 Class Imbalance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04825" y="5610225"/>
            <a:ext cx="3533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Some classes have &lt;1% of the data.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Stratified sampling &amp; recall-focused evaluation.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246513" y="5148263"/>
            <a:ext cx="3695700" cy="1323975"/>
          </a:xfrm>
          <a:custGeom>
            <a:avLst/>
            <a:gdLst/>
            <a:ahLst/>
            <a:cxnLst/>
            <a:rect l="l" t="t" r="r" b="b"/>
            <a:pathLst>
              <a:path w="3695700" h="1323975">
                <a:moveTo>
                  <a:pt x="76195" y="0"/>
                </a:moveTo>
                <a:lnTo>
                  <a:pt x="3619505" y="0"/>
                </a:lnTo>
                <a:cubicBezTo>
                  <a:pt x="3661586" y="0"/>
                  <a:pt x="3695700" y="34114"/>
                  <a:pt x="3695700" y="76195"/>
                </a:cubicBezTo>
                <a:lnTo>
                  <a:pt x="3695700" y="1247780"/>
                </a:lnTo>
                <a:cubicBezTo>
                  <a:pt x="3695700" y="1289861"/>
                  <a:pt x="3661586" y="1323975"/>
                  <a:pt x="3619505" y="1323975"/>
                </a:cubicBezTo>
                <a:lnTo>
                  <a:pt x="76195" y="1323975"/>
                </a:lnTo>
                <a:cubicBezTo>
                  <a:pt x="34114" y="1323975"/>
                  <a:pt x="0" y="1289861"/>
                  <a:pt x="0" y="1247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65575" y="5267325"/>
            <a:ext cx="354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365575" y="5610225"/>
            <a:ext cx="3533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Features: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Similar to binary (TTL, load, state), effective across all attack types.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107338" y="5148263"/>
            <a:ext cx="3695700" cy="1323975"/>
          </a:xfrm>
          <a:custGeom>
            <a:avLst/>
            <a:gdLst/>
            <a:ahLst/>
            <a:cxnLst/>
            <a:rect l="l" t="t" r="r" b="b"/>
            <a:pathLst>
              <a:path w="3695700" h="1323975">
                <a:moveTo>
                  <a:pt x="76195" y="0"/>
                </a:moveTo>
                <a:lnTo>
                  <a:pt x="3619505" y="0"/>
                </a:lnTo>
                <a:cubicBezTo>
                  <a:pt x="3661586" y="0"/>
                  <a:pt x="3695700" y="34114"/>
                  <a:pt x="3695700" y="76195"/>
                </a:cubicBezTo>
                <a:lnTo>
                  <a:pt x="3695700" y="1247780"/>
                </a:lnTo>
                <a:cubicBezTo>
                  <a:pt x="3695700" y="1289861"/>
                  <a:pt x="3661586" y="1323975"/>
                  <a:pt x="3619505" y="1323975"/>
                </a:cubicBezTo>
                <a:lnTo>
                  <a:pt x="76195" y="1323975"/>
                </a:lnTo>
                <a:cubicBezTo>
                  <a:pt x="34114" y="1323975"/>
                  <a:pt x="0" y="1289861"/>
                  <a:pt x="0" y="1247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6400" y="5267325"/>
            <a:ext cx="354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Holdout Validation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26400" y="5610225"/>
            <a:ext cx="3533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Confirmed generalization to unseen attack patterns, with minimal performance degradation.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esearchgate.net/1eaff4edcda1b217169121d63ab0d16615d4504a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9135" b="913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3D4A5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162050"/>
            <a:ext cx="1647825" cy="419100"/>
          </a:xfrm>
          <a:custGeom>
            <a:avLst/>
            <a:gdLst/>
            <a:ahLst/>
            <a:cxnLst/>
            <a:rect l="l" t="t" r="r" b="b"/>
            <a:pathLst>
              <a:path w="1647825" h="419100">
                <a:moveTo>
                  <a:pt x="0" y="0"/>
                </a:moveTo>
                <a:lnTo>
                  <a:pt x="1647825" y="0"/>
                </a:lnTo>
                <a:lnTo>
                  <a:pt x="16478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7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6205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23825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09750"/>
            <a:ext cx="76581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Task: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Performance Prediction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6101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continuous network metrics for proactive defense and capacity planning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65785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Targets &amp; Model Selection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4540250" cy="3849688"/>
          </a:xfrm>
          <a:custGeom>
            <a:avLst/>
            <a:gdLst/>
            <a:ahLst/>
            <a:cxnLst/>
            <a:rect l="l" t="t" r="r" b="b"/>
            <a:pathLst>
              <a:path w="4540250" h="3849688">
                <a:moveTo>
                  <a:pt x="63481" y="0"/>
                </a:moveTo>
                <a:lnTo>
                  <a:pt x="4476769" y="0"/>
                </a:lnTo>
                <a:cubicBezTo>
                  <a:pt x="4511828" y="0"/>
                  <a:pt x="4540250" y="28422"/>
                  <a:pt x="4540250" y="63481"/>
                </a:cubicBezTo>
                <a:lnTo>
                  <a:pt x="4540250" y="3786206"/>
                </a:lnTo>
                <a:cubicBezTo>
                  <a:pt x="4540250" y="3821266"/>
                  <a:pt x="4511828" y="3849687"/>
                  <a:pt x="4476769" y="3849687"/>
                </a:cubicBezTo>
                <a:lnTo>
                  <a:pt x="63481" y="3849688"/>
                </a:lnTo>
                <a:cubicBezTo>
                  <a:pt x="28422" y="3849687"/>
                  <a:pt x="0" y="3821266"/>
                  <a:pt x="0" y="3786206"/>
                </a:cubicBezTo>
                <a:lnTo>
                  <a:pt x="0" y="63481"/>
                </a:lnTo>
                <a:cubicBezTo>
                  <a:pt x="0" y="28445"/>
                  <a:pt x="28445" y="0"/>
                  <a:pt x="6348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281" y="1309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38906" y="79375"/>
                </a:moveTo>
                <a:cubicBezTo>
                  <a:pt x="138906" y="46519"/>
                  <a:pt x="112231" y="19844"/>
                  <a:pt x="79375" y="19844"/>
                </a:cubicBezTo>
                <a:cubicBezTo>
                  <a:pt x="46519" y="19844"/>
                  <a:pt x="19844" y="46519"/>
                  <a:pt x="19844" y="79375"/>
                </a:cubicBezTo>
                <a:cubicBezTo>
                  <a:pt x="19844" y="112231"/>
                  <a:pt x="46519" y="138906"/>
                  <a:pt x="79375" y="138906"/>
                </a:cubicBezTo>
                <a:cubicBezTo>
                  <a:pt x="112231" y="138906"/>
                  <a:pt x="138906" y="112231"/>
                  <a:pt x="138906" y="79375"/>
                </a:cubicBez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79375" y="104180"/>
                </a:moveTo>
                <a:cubicBezTo>
                  <a:pt x="93065" y="104180"/>
                  <a:pt x="104180" y="93065"/>
                  <a:pt x="104180" y="79375"/>
                </a:cubicBezTo>
                <a:cubicBezTo>
                  <a:pt x="104180" y="65685"/>
                  <a:pt x="93065" y="54570"/>
                  <a:pt x="79375" y="54570"/>
                </a:cubicBezTo>
                <a:cubicBezTo>
                  <a:pt x="65685" y="54570"/>
                  <a:pt x="54570" y="65685"/>
                  <a:pt x="54570" y="79375"/>
                </a:cubicBezTo>
                <a:cubicBezTo>
                  <a:pt x="54570" y="93065"/>
                  <a:pt x="65685" y="104180"/>
                  <a:pt x="79375" y="104180"/>
                </a:cubicBezTo>
                <a:close/>
                <a:moveTo>
                  <a:pt x="79375" y="34727"/>
                </a:moveTo>
                <a:cubicBezTo>
                  <a:pt x="104017" y="34727"/>
                  <a:pt x="124023" y="54733"/>
                  <a:pt x="124023" y="79375"/>
                </a:cubicBezTo>
                <a:cubicBezTo>
                  <a:pt x="124023" y="104017"/>
                  <a:pt x="104017" y="124023"/>
                  <a:pt x="79375" y="124023"/>
                </a:cubicBezTo>
                <a:cubicBezTo>
                  <a:pt x="54733" y="124023"/>
                  <a:pt x="34727" y="104017"/>
                  <a:pt x="34727" y="79375"/>
                </a:cubicBezTo>
                <a:cubicBezTo>
                  <a:pt x="34727" y="54733"/>
                  <a:pt x="54733" y="34727"/>
                  <a:pt x="79375" y="34727"/>
                </a:cubicBezTo>
                <a:close/>
                <a:moveTo>
                  <a:pt x="69453" y="79375"/>
                </a:moveTo>
                <a:cubicBezTo>
                  <a:pt x="69453" y="73899"/>
                  <a:pt x="73899" y="69453"/>
                  <a:pt x="79375" y="69453"/>
                </a:cubicBezTo>
                <a:cubicBezTo>
                  <a:pt x="84851" y="69453"/>
                  <a:pt x="89297" y="73899"/>
                  <a:pt x="89297" y="79375"/>
                </a:cubicBezTo>
                <a:cubicBezTo>
                  <a:pt x="89297" y="84851"/>
                  <a:pt x="84851" y="89297"/>
                  <a:pt x="79375" y="89297"/>
                </a:cubicBezTo>
                <a:cubicBezTo>
                  <a:pt x="73899" y="89297"/>
                  <a:pt x="69453" y="84851"/>
                  <a:pt x="69453" y="79375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Text 5"/>
          <p:cNvSpPr/>
          <p:nvPr/>
        </p:nvSpPr>
        <p:spPr>
          <a:xfrm>
            <a:off x="650875" y="1277938"/>
            <a:ext cx="415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Targets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2438" y="1595438"/>
            <a:ext cx="434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Eight continuous network metrics for performance prediction and anomaly detection.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438" y="2103438"/>
            <a:ext cx="4278313" cy="317500"/>
          </a:xfrm>
          <a:custGeom>
            <a:avLst/>
            <a:gdLst/>
            <a:ahLst/>
            <a:cxnLst/>
            <a:rect l="l" t="t" r="r" b="b"/>
            <a:pathLst>
              <a:path w="4278313" h="317500">
                <a:moveTo>
                  <a:pt x="31750" y="0"/>
                </a:moveTo>
                <a:lnTo>
                  <a:pt x="4246563" y="0"/>
                </a:lnTo>
                <a:cubicBezTo>
                  <a:pt x="4264086" y="0"/>
                  <a:pt x="4278313" y="14227"/>
                  <a:pt x="4278313" y="31750"/>
                </a:cubicBezTo>
                <a:lnTo>
                  <a:pt x="4278313" y="285750"/>
                </a:lnTo>
                <a:cubicBezTo>
                  <a:pt x="4278313" y="303273"/>
                  <a:pt x="4264086" y="317500"/>
                  <a:pt x="42465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2438" y="2103438"/>
            <a:ext cx="4341813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Connection duration (seconds)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438" y="2452688"/>
            <a:ext cx="4278313" cy="317500"/>
          </a:xfrm>
          <a:custGeom>
            <a:avLst/>
            <a:gdLst/>
            <a:ahLst/>
            <a:cxnLst/>
            <a:rect l="l" t="t" r="r" b="b"/>
            <a:pathLst>
              <a:path w="4278313" h="317500">
                <a:moveTo>
                  <a:pt x="31750" y="0"/>
                </a:moveTo>
                <a:lnTo>
                  <a:pt x="4246563" y="0"/>
                </a:lnTo>
                <a:cubicBezTo>
                  <a:pt x="4264086" y="0"/>
                  <a:pt x="4278313" y="14227"/>
                  <a:pt x="4278313" y="31750"/>
                </a:cubicBezTo>
                <a:lnTo>
                  <a:pt x="4278313" y="285750"/>
                </a:lnTo>
                <a:cubicBezTo>
                  <a:pt x="4278313" y="303273"/>
                  <a:pt x="4264086" y="317500"/>
                  <a:pt x="42465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2438" y="2452688"/>
            <a:ext cx="4341813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sbytes: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Source→destination bytes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438" y="2801938"/>
            <a:ext cx="4278313" cy="317500"/>
          </a:xfrm>
          <a:custGeom>
            <a:avLst/>
            <a:gdLst/>
            <a:ahLst/>
            <a:cxnLst/>
            <a:rect l="l" t="t" r="r" b="b"/>
            <a:pathLst>
              <a:path w="4278313" h="317500">
                <a:moveTo>
                  <a:pt x="31750" y="0"/>
                </a:moveTo>
                <a:lnTo>
                  <a:pt x="4246563" y="0"/>
                </a:lnTo>
                <a:cubicBezTo>
                  <a:pt x="4264086" y="0"/>
                  <a:pt x="4278313" y="14227"/>
                  <a:pt x="4278313" y="31750"/>
                </a:cubicBezTo>
                <a:lnTo>
                  <a:pt x="4278313" y="285750"/>
                </a:lnTo>
                <a:cubicBezTo>
                  <a:pt x="4278313" y="303273"/>
                  <a:pt x="4264086" y="317500"/>
                  <a:pt x="42465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2438" y="2801938"/>
            <a:ext cx="4341813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dbytes: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Destination→source bytes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438" y="3151188"/>
            <a:ext cx="4278313" cy="317500"/>
          </a:xfrm>
          <a:custGeom>
            <a:avLst/>
            <a:gdLst/>
            <a:ahLst/>
            <a:cxnLst/>
            <a:rect l="l" t="t" r="r" b="b"/>
            <a:pathLst>
              <a:path w="4278313" h="317500">
                <a:moveTo>
                  <a:pt x="31750" y="0"/>
                </a:moveTo>
                <a:lnTo>
                  <a:pt x="4246563" y="0"/>
                </a:lnTo>
                <a:cubicBezTo>
                  <a:pt x="4264086" y="0"/>
                  <a:pt x="4278313" y="14227"/>
                  <a:pt x="4278313" y="31750"/>
                </a:cubicBezTo>
                <a:lnTo>
                  <a:pt x="4278313" y="285750"/>
                </a:lnTo>
                <a:cubicBezTo>
                  <a:pt x="4278313" y="303273"/>
                  <a:pt x="4264086" y="317500"/>
                  <a:pt x="42465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2438" y="3151188"/>
            <a:ext cx="4341813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Sload: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 bits per second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2438" y="3500438"/>
            <a:ext cx="4278313" cy="317500"/>
          </a:xfrm>
          <a:custGeom>
            <a:avLst/>
            <a:gdLst/>
            <a:ahLst/>
            <a:cxnLst/>
            <a:rect l="l" t="t" r="r" b="b"/>
            <a:pathLst>
              <a:path w="4278313" h="317500">
                <a:moveTo>
                  <a:pt x="31750" y="0"/>
                </a:moveTo>
                <a:lnTo>
                  <a:pt x="4246563" y="0"/>
                </a:lnTo>
                <a:cubicBezTo>
                  <a:pt x="4264086" y="0"/>
                  <a:pt x="4278313" y="14227"/>
                  <a:pt x="4278313" y="31750"/>
                </a:cubicBezTo>
                <a:lnTo>
                  <a:pt x="4278313" y="285750"/>
                </a:lnTo>
                <a:cubicBezTo>
                  <a:pt x="4278313" y="303273"/>
                  <a:pt x="4264086" y="317500"/>
                  <a:pt x="42465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2438" y="3500438"/>
            <a:ext cx="4341813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Dload: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Destination bits per second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2438" y="3849688"/>
            <a:ext cx="4278313" cy="317500"/>
          </a:xfrm>
          <a:custGeom>
            <a:avLst/>
            <a:gdLst/>
            <a:ahLst/>
            <a:cxnLst/>
            <a:rect l="l" t="t" r="r" b="b"/>
            <a:pathLst>
              <a:path w="4278313" h="317500">
                <a:moveTo>
                  <a:pt x="31750" y="0"/>
                </a:moveTo>
                <a:lnTo>
                  <a:pt x="4246563" y="0"/>
                </a:lnTo>
                <a:cubicBezTo>
                  <a:pt x="4264086" y="0"/>
                  <a:pt x="4278313" y="14227"/>
                  <a:pt x="4278313" y="31750"/>
                </a:cubicBezTo>
                <a:lnTo>
                  <a:pt x="4278313" y="285750"/>
                </a:lnTo>
                <a:cubicBezTo>
                  <a:pt x="4278313" y="303273"/>
                  <a:pt x="4264086" y="317500"/>
                  <a:pt x="42465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2438" y="3849688"/>
            <a:ext cx="4341813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tcprtt: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TCP round-trip 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2438" y="4198938"/>
            <a:ext cx="4278313" cy="317500"/>
          </a:xfrm>
          <a:custGeom>
            <a:avLst/>
            <a:gdLst/>
            <a:ahLst/>
            <a:cxnLst/>
            <a:rect l="l" t="t" r="r" b="b"/>
            <a:pathLst>
              <a:path w="4278313" h="317500">
                <a:moveTo>
                  <a:pt x="31750" y="0"/>
                </a:moveTo>
                <a:lnTo>
                  <a:pt x="4246563" y="0"/>
                </a:lnTo>
                <a:cubicBezTo>
                  <a:pt x="4264086" y="0"/>
                  <a:pt x="4278313" y="14227"/>
                  <a:pt x="4278313" y="31750"/>
                </a:cubicBezTo>
                <a:lnTo>
                  <a:pt x="4278313" y="285750"/>
                </a:lnTo>
                <a:cubicBezTo>
                  <a:pt x="4278313" y="303273"/>
                  <a:pt x="4264086" y="317500"/>
                  <a:pt x="42465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2438" y="4198938"/>
            <a:ext cx="4341813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synack: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TCP SYN-ACK time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2438" y="4548188"/>
            <a:ext cx="4278313" cy="317500"/>
          </a:xfrm>
          <a:custGeom>
            <a:avLst/>
            <a:gdLst/>
            <a:ahLst/>
            <a:cxnLst/>
            <a:rect l="l" t="t" r="r" b="b"/>
            <a:pathLst>
              <a:path w="4278313" h="317500">
                <a:moveTo>
                  <a:pt x="31750" y="0"/>
                </a:moveTo>
                <a:lnTo>
                  <a:pt x="4246563" y="0"/>
                </a:lnTo>
                <a:cubicBezTo>
                  <a:pt x="4264086" y="0"/>
                  <a:pt x="4278313" y="14227"/>
                  <a:pt x="4278313" y="31750"/>
                </a:cubicBezTo>
                <a:lnTo>
                  <a:pt x="4278313" y="285750"/>
                </a:lnTo>
                <a:cubicBezTo>
                  <a:pt x="4278313" y="303273"/>
                  <a:pt x="4264086" y="317500"/>
                  <a:pt x="4246563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2438" y="4548188"/>
            <a:ext cx="4341813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ackdat: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TCP ACK-DATA time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95044" y="1146969"/>
            <a:ext cx="6873875" cy="1881187"/>
          </a:xfrm>
          <a:custGeom>
            <a:avLst/>
            <a:gdLst/>
            <a:ahLst/>
            <a:cxnLst/>
            <a:rect l="l" t="t" r="r" b="b"/>
            <a:pathLst>
              <a:path w="6873875" h="1881187">
                <a:moveTo>
                  <a:pt x="63509" y="0"/>
                </a:moveTo>
                <a:lnTo>
                  <a:pt x="6810366" y="0"/>
                </a:lnTo>
                <a:cubicBezTo>
                  <a:pt x="6845441" y="0"/>
                  <a:pt x="6873875" y="28434"/>
                  <a:pt x="6873875" y="63509"/>
                </a:cubicBezTo>
                <a:lnTo>
                  <a:pt x="6873875" y="1817679"/>
                </a:lnTo>
                <a:cubicBezTo>
                  <a:pt x="6873875" y="1852754"/>
                  <a:pt x="6845441" y="1881188"/>
                  <a:pt x="6810366" y="1881187"/>
                </a:cubicBezTo>
                <a:lnTo>
                  <a:pt x="63509" y="1881187"/>
                </a:lnTo>
                <a:cubicBezTo>
                  <a:pt x="28434" y="1881187"/>
                  <a:pt x="0" y="1852754"/>
                  <a:pt x="0" y="1817679"/>
                </a:cubicBezTo>
                <a:lnTo>
                  <a:pt x="0" y="63509"/>
                </a:lnTo>
                <a:cubicBezTo>
                  <a:pt x="0" y="28434"/>
                  <a:pt x="28434" y="0"/>
                  <a:pt x="6350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6013" y="1277938"/>
            <a:ext cx="668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Variable Characteristics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26013" y="1563688"/>
            <a:ext cx="1603375" cy="635000"/>
          </a:xfrm>
          <a:custGeom>
            <a:avLst/>
            <a:gdLst/>
            <a:ahLst/>
            <a:cxnLst/>
            <a:rect l="l" t="t" r="r" b="b"/>
            <a:pathLst>
              <a:path w="1603375" h="635000">
                <a:moveTo>
                  <a:pt x="31750" y="0"/>
                </a:moveTo>
                <a:lnTo>
                  <a:pt x="1571625" y="0"/>
                </a:lnTo>
                <a:cubicBezTo>
                  <a:pt x="1589148" y="0"/>
                  <a:pt x="1603375" y="14227"/>
                  <a:pt x="1603375" y="31750"/>
                </a:cubicBezTo>
                <a:lnTo>
                  <a:pt x="1603375" y="603250"/>
                </a:lnTo>
                <a:cubicBezTo>
                  <a:pt x="1603375" y="620773"/>
                  <a:pt x="1589148" y="635000"/>
                  <a:pt x="1571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161731" y="1627188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49825" y="1785938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6.8s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5700" y="2008187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95244" y="1563688"/>
            <a:ext cx="1603375" cy="635000"/>
          </a:xfrm>
          <a:custGeom>
            <a:avLst/>
            <a:gdLst/>
            <a:ahLst/>
            <a:cxnLst/>
            <a:rect l="l" t="t" r="r" b="b"/>
            <a:pathLst>
              <a:path w="1603375" h="635000">
                <a:moveTo>
                  <a:pt x="31750" y="0"/>
                </a:moveTo>
                <a:lnTo>
                  <a:pt x="1571625" y="0"/>
                </a:lnTo>
                <a:cubicBezTo>
                  <a:pt x="1589148" y="0"/>
                  <a:pt x="1603375" y="14227"/>
                  <a:pt x="1603375" y="31750"/>
                </a:cubicBezTo>
                <a:lnTo>
                  <a:pt x="1603375" y="603250"/>
                </a:lnTo>
                <a:cubicBezTo>
                  <a:pt x="1603375" y="620773"/>
                  <a:pt x="1589148" y="635000"/>
                  <a:pt x="1571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30963" y="1627188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sbytes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9057" y="1785938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4.8K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34932" y="2008187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64476" y="1563688"/>
            <a:ext cx="1603375" cy="635000"/>
          </a:xfrm>
          <a:custGeom>
            <a:avLst/>
            <a:gdLst/>
            <a:ahLst/>
            <a:cxnLst/>
            <a:rect l="l" t="t" r="r" b="b"/>
            <a:pathLst>
              <a:path w="1603375" h="635000">
                <a:moveTo>
                  <a:pt x="31750" y="0"/>
                </a:moveTo>
                <a:lnTo>
                  <a:pt x="1571625" y="0"/>
                </a:lnTo>
                <a:cubicBezTo>
                  <a:pt x="1589148" y="0"/>
                  <a:pt x="1603375" y="14227"/>
                  <a:pt x="1603375" y="31750"/>
                </a:cubicBezTo>
                <a:lnTo>
                  <a:pt x="1603375" y="603250"/>
                </a:lnTo>
                <a:cubicBezTo>
                  <a:pt x="1603375" y="620773"/>
                  <a:pt x="1589148" y="635000"/>
                  <a:pt x="1571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500194" y="1627188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dbytes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88288" y="1785938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04163" y="2008187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133707" y="1563688"/>
            <a:ext cx="1603375" cy="635000"/>
          </a:xfrm>
          <a:custGeom>
            <a:avLst/>
            <a:gdLst/>
            <a:ahLst/>
            <a:cxnLst/>
            <a:rect l="l" t="t" r="r" b="b"/>
            <a:pathLst>
              <a:path w="1603375" h="635000">
                <a:moveTo>
                  <a:pt x="31750" y="0"/>
                </a:moveTo>
                <a:lnTo>
                  <a:pt x="1571625" y="0"/>
                </a:lnTo>
                <a:cubicBezTo>
                  <a:pt x="1589148" y="0"/>
                  <a:pt x="1603375" y="14227"/>
                  <a:pt x="1603375" y="31750"/>
                </a:cubicBezTo>
                <a:lnTo>
                  <a:pt x="1603375" y="603250"/>
                </a:lnTo>
                <a:cubicBezTo>
                  <a:pt x="1603375" y="620773"/>
                  <a:pt x="1589148" y="635000"/>
                  <a:pt x="1571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169426" y="1627188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Sload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57520" y="1785938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173395" y="2008187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26013" y="2262188"/>
            <a:ext cx="1603375" cy="635000"/>
          </a:xfrm>
          <a:custGeom>
            <a:avLst/>
            <a:gdLst/>
            <a:ahLst/>
            <a:cxnLst/>
            <a:rect l="l" t="t" r="r" b="b"/>
            <a:pathLst>
              <a:path w="1603375" h="635000">
                <a:moveTo>
                  <a:pt x="31750" y="0"/>
                </a:moveTo>
                <a:lnTo>
                  <a:pt x="1571625" y="0"/>
                </a:lnTo>
                <a:cubicBezTo>
                  <a:pt x="1589148" y="0"/>
                  <a:pt x="1603375" y="14227"/>
                  <a:pt x="1603375" y="31750"/>
                </a:cubicBezTo>
                <a:lnTo>
                  <a:pt x="1603375" y="603250"/>
                </a:lnTo>
                <a:cubicBezTo>
                  <a:pt x="1603375" y="620773"/>
                  <a:pt x="1589148" y="635000"/>
                  <a:pt x="1571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161731" y="2325688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Dload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49825" y="2484438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2.6M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165700" y="2706688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95244" y="2262188"/>
            <a:ext cx="1603375" cy="635000"/>
          </a:xfrm>
          <a:custGeom>
            <a:avLst/>
            <a:gdLst/>
            <a:ahLst/>
            <a:cxnLst/>
            <a:rect l="l" t="t" r="r" b="b"/>
            <a:pathLst>
              <a:path w="1603375" h="635000">
                <a:moveTo>
                  <a:pt x="31750" y="0"/>
                </a:moveTo>
                <a:lnTo>
                  <a:pt x="1571625" y="0"/>
                </a:lnTo>
                <a:cubicBezTo>
                  <a:pt x="1589148" y="0"/>
                  <a:pt x="1603375" y="14227"/>
                  <a:pt x="1603375" y="31750"/>
                </a:cubicBezTo>
                <a:lnTo>
                  <a:pt x="1603375" y="603250"/>
                </a:lnTo>
                <a:cubicBezTo>
                  <a:pt x="1603375" y="620773"/>
                  <a:pt x="1589148" y="635000"/>
                  <a:pt x="1571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830963" y="2325688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tcprtt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19057" y="2484438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7.9ms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34932" y="2706688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64476" y="2262188"/>
            <a:ext cx="1603375" cy="635000"/>
          </a:xfrm>
          <a:custGeom>
            <a:avLst/>
            <a:gdLst/>
            <a:ahLst/>
            <a:cxnLst/>
            <a:rect l="l" t="t" r="r" b="b"/>
            <a:pathLst>
              <a:path w="1603375" h="635000">
                <a:moveTo>
                  <a:pt x="31750" y="0"/>
                </a:moveTo>
                <a:lnTo>
                  <a:pt x="1571625" y="0"/>
                </a:lnTo>
                <a:cubicBezTo>
                  <a:pt x="1589148" y="0"/>
                  <a:pt x="1603375" y="14227"/>
                  <a:pt x="1603375" y="31750"/>
                </a:cubicBezTo>
                <a:lnTo>
                  <a:pt x="1603375" y="603250"/>
                </a:lnTo>
                <a:cubicBezTo>
                  <a:pt x="1603375" y="620773"/>
                  <a:pt x="1589148" y="635000"/>
                  <a:pt x="1571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500194" y="2325688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synack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88288" y="2484438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4.2ms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04163" y="2706688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133707" y="2262188"/>
            <a:ext cx="1603375" cy="635000"/>
          </a:xfrm>
          <a:custGeom>
            <a:avLst/>
            <a:gdLst/>
            <a:ahLst/>
            <a:cxnLst/>
            <a:rect l="l" t="t" r="r" b="b"/>
            <a:pathLst>
              <a:path w="1603375" h="635000">
                <a:moveTo>
                  <a:pt x="31750" y="0"/>
                </a:moveTo>
                <a:lnTo>
                  <a:pt x="1571625" y="0"/>
                </a:lnTo>
                <a:cubicBezTo>
                  <a:pt x="1589148" y="0"/>
                  <a:pt x="1603375" y="14227"/>
                  <a:pt x="1603375" y="31750"/>
                </a:cubicBezTo>
                <a:lnTo>
                  <a:pt x="1603375" y="603250"/>
                </a:lnTo>
                <a:cubicBezTo>
                  <a:pt x="1603375" y="620773"/>
                  <a:pt x="1589148" y="635000"/>
                  <a:pt x="1571625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169426" y="2325688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ackdat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157520" y="2484438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3.8ms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173395" y="2706688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995044" y="3131344"/>
            <a:ext cx="6873875" cy="1595438"/>
          </a:xfrm>
          <a:custGeom>
            <a:avLst/>
            <a:gdLst/>
            <a:ahLst/>
            <a:cxnLst/>
            <a:rect l="l" t="t" r="r" b="b"/>
            <a:pathLst>
              <a:path w="6873875" h="1595438">
                <a:moveTo>
                  <a:pt x="63498" y="0"/>
                </a:moveTo>
                <a:lnTo>
                  <a:pt x="6810377" y="0"/>
                </a:lnTo>
                <a:cubicBezTo>
                  <a:pt x="6845446" y="0"/>
                  <a:pt x="6873875" y="28429"/>
                  <a:pt x="6873875" y="63498"/>
                </a:cubicBezTo>
                <a:lnTo>
                  <a:pt x="6873875" y="1531939"/>
                </a:lnTo>
                <a:cubicBezTo>
                  <a:pt x="6873875" y="1567008"/>
                  <a:pt x="6845446" y="1595437"/>
                  <a:pt x="6810377" y="1595438"/>
                </a:cubicBezTo>
                <a:lnTo>
                  <a:pt x="63498" y="1595438"/>
                </a:lnTo>
                <a:cubicBezTo>
                  <a:pt x="28429" y="1595438"/>
                  <a:pt x="0" y="1567008"/>
                  <a:pt x="0" y="153193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6013" y="3262313"/>
            <a:ext cx="668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Models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126013" y="3548063"/>
            <a:ext cx="3262313" cy="476250"/>
          </a:xfrm>
          <a:custGeom>
            <a:avLst/>
            <a:gdLst/>
            <a:ahLst/>
            <a:cxnLst/>
            <a:rect l="l" t="t" r="r" b="b"/>
            <a:pathLst>
              <a:path w="3262313" h="476250">
                <a:moveTo>
                  <a:pt x="31752" y="0"/>
                </a:moveTo>
                <a:lnTo>
                  <a:pt x="3230561" y="0"/>
                </a:lnTo>
                <a:cubicBezTo>
                  <a:pt x="3248097" y="0"/>
                  <a:pt x="3262313" y="14216"/>
                  <a:pt x="3262313" y="31752"/>
                </a:cubicBezTo>
                <a:lnTo>
                  <a:pt x="3262313" y="444498"/>
                </a:lnTo>
                <a:cubicBezTo>
                  <a:pt x="3262313" y="462034"/>
                  <a:pt x="3248097" y="476250"/>
                  <a:pt x="323056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189513" y="3611563"/>
            <a:ext cx="319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189513" y="3802062"/>
            <a:ext cx="319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model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80351" y="3548063"/>
            <a:ext cx="3262313" cy="476250"/>
          </a:xfrm>
          <a:custGeom>
            <a:avLst/>
            <a:gdLst/>
            <a:ahLst/>
            <a:cxnLst/>
            <a:rect l="l" t="t" r="r" b="b"/>
            <a:pathLst>
              <a:path w="3262313" h="476250">
                <a:moveTo>
                  <a:pt x="31752" y="0"/>
                </a:moveTo>
                <a:lnTo>
                  <a:pt x="3230561" y="0"/>
                </a:lnTo>
                <a:cubicBezTo>
                  <a:pt x="3248097" y="0"/>
                  <a:pt x="3262313" y="14216"/>
                  <a:pt x="3262313" y="31752"/>
                </a:cubicBezTo>
                <a:lnTo>
                  <a:pt x="3262313" y="444498"/>
                </a:lnTo>
                <a:cubicBezTo>
                  <a:pt x="3262313" y="462034"/>
                  <a:pt x="3248097" y="476250"/>
                  <a:pt x="323056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8543851" y="3611563"/>
            <a:ext cx="319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43851" y="3802062"/>
            <a:ext cx="319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rules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126013" y="4119562"/>
            <a:ext cx="3262313" cy="476250"/>
          </a:xfrm>
          <a:custGeom>
            <a:avLst/>
            <a:gdLst/>
            <a:ahLst/>
            <a:cxnLst/>
            <a:rect l="l" t="t" r="r" b="b"/>
            <a:pathLst>
              <a:path w="3262313" h="476250">
                <a:moveTo>
                  <a:pt x="31752" y="0"/>
                </a:moveTo>
                <a:lnTo>
                  <a:pt x="3230561" y="0"/>
                </a:lnTo>
                <a:cubicBezTo>
                  <a:pt x="3248097" y="0"/>
                  <a:pt x="3262313" y="14216"/>
                  <a:pt x="3262313" y="31752"/>
                </a:cubicBezTo>
                <a:lnTo>
                  <a:pt x="3262313" y="444498"/>
                </a:lnTo>
                <a:cubicBezTo>
                  <a:pt x="3262313" y="462034"/>
                  <a:pt x="3248097" y="476250"/>
                  <a:pt x="323056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189513" y="4183063"/>
            <a:ext cx="319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189513" y="4373563"/>
            <a:ext cx="319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to outliers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480351" y="4119562"/>
            <a:ext cx="3262313" cy="476250"/>
          </a:xfrm>
          <a:custGeom>
            <a:avLst/>
            <a:gdLst/>
            <a:ahLst/>
            <a:cxnLst/>
            <a:rect l="l" t="t" r="r" b="b"/>
            <a:pathLst>
              <a:path w="3262313" h="476250">
                <a:moveTo>
                  <a:pt x="31752" y="0"/>
                </a:moveTo>
                <a:lnTo>
                  <a:pt x="3230561" y="0"/>
                </a:lnTo>
                <a:cubicBezTo>
                  <a:pt x="3248097" y="0"/>
                  <a:pt x="3262313" y="14216"/>
                  <a:pt x="3262313" y="31752"/>
                </a:cubicBezTo>
                <a:lnTo>
                  <a:pt x="3262313" y="444498"/>
                </a:lnTo>
                <a:cubicBezTo>
                  <a:pt x="3262313" y="462034"/>
                  <a:pt x="3248097" y="476250"/>
                  <a:pt x="323056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543851" y="4183063"/>
            <a:ext cx="319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543851" y="4373563"/>
            <a:ext cx="319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regularization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995044" y="4829969"/>
            <a:ext cx="6873875" cy="1023938"/>
          </a:xfrm>
          <a:custGeom>
            <a:avLst/>
            <a:gdLst/>
            <a:ahLst/>
            <a:cxnLst/>
            <a:rect l="l" t="t" r="r" b="b"/>
            <a:pathLst>
              <a:path w="6873875" h="1023938">
                <a:moveTo>
                  <a:pt x="63505" y="0"/>
                </a:moveTo>
                <a:lnTo>
                  <a:pt x="6810370" y="0"/>
                </a:lnTo>
                <a:cubicBezTo>
                  <a:pt x="6845443" y="0"/>
                  <a:pt x="6873875" y="28432"/>
                  <a:pt x="6873875" y="63505"/>
                </a:cubicBezTo>
                <a:lnTo>
                  <a:pt x="6873875" y="960433"/>
                </a:lnTo>
                <a:cubicBezTo>
                  <a:pt x="6873875" y="995506"/>
                  <a:pt x="6845443" y="1023938"/>
                  <a:pt x="6810370" y="1023938"/>
                </a:cubicBezTo>
                <a:lnTo>
                  <a:pt x="63505" y="1023938"/>
                </a:lnTo>
                <a:cubicBezTo>
                  <a:pt x="28432" y="1023938"/>
                  <a:pt x="0" y="995506"/>
                  <a:pt x="0" y="960433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26013" y="4960938"/>
            <a:ext cx="6683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&amp; Validation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5126013" y="5246688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RMSE, MAE, R²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80351" y="5246688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5-fold on training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126013" y="5532438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Test: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Holdout (10K)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480351" y="5532438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42 (reproducibility)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21469" y="7011169"/>
            <a:ext cx="11549063" cy="896938"/>
          </a:xfrm>
          <a:custGeom>
            <a:avLst/>
            <a:gdLst/>
            <a:ahLst/>
            <a:cxnLst/>
            <a:rect l="l" t="t" r="r" b="b"/>
            <a:pathLst>
              <a:path w="11549063" h="896938">
                <a:moveTo>
                  <a:pt x="63503" y="0"/>
                </a:moveTo>
                <a:lnTo>
                  <a:pt x="11485559" y="0"/>
                </a:lnTo>
                <a:cubicBezTo>
                  <a:pt x="11520631" y="0"/>
                  <a:pt x="11549063" y="28431"/>
                  <a:pt x="11549063" y="63503"/>
                </a:cubicBezTo>
                <a:lnTo>
                  <a:pt x="11549063" y="833434"/>
                </a:lnTo>
                <a:cubicBezTo>
                  <a:pt x="11549063" y="868506"/>
                  <a:pt x="11520631" y="896938"/>
                  <a:pt x="11485559" y="896938"/>
                </a:cubicBezTo>
                <a:lnTo>
                  <a:pt x="63503" y="896938"/>
                </a:lnTo>
                <a:cubicBezTo>
                  <a:pt x="28431" y="896938"/>
                  <a:pt x="0" y="868506"/>
                  <a:pt x="0" y="833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8391" y="7150075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81" name="Text 79"/>
          <p:cNvSpPr/>
          <p:nvPr/>
        </p:nvSpPr>
        <p:spPr>
          <a:xfrm>
            <a:off x="603250" y="7110388"/>
            <a:ext cx="1123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Insights: Target Distributions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420688" y="7396138"/>
            <a:ext cx="11414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variables exhibit varying skewness and zero-inflation.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Tree-based models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preferred for robustness without transformation. Timing metrics show high zero-inflation (34.8%), making prediction challenging.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Performance &amp; Feature Importance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6457950" cy="5191125"/>
          </a:xfrm>
          <a:custGeom>
            <a:avLst/>
            <a:gdLst/>
            <a:ahLst/>
            <a:cxnLst/>
            <a:rect l="l" t="t" r="r" b="b"/>
            <a:pathLst>
              <a:path w="6457950" h="5191125">
                <a:moveTo>
                  <a:pt x="76206" y="0"/>
                </a:moveTo>
                <a:lnTo>
                  <a:pt x="6381744" y="0"/>
                </a:lnTo>
                <a:cubicBezTo>
                  <a:pt x="6423803" y="0"/>
                  <a:pt x="6457950" y="34147"/>
                  <a:pt x="6457950" y="76206"/>
                </a:cubicBezTo>
                <a:lnTo>
                  <a:pt x="6457950" y="5114919"/>
                </a:lnTo>
                <a:cubicBezTo>
                  <a:pt x="6457950" y="5157007"/>
                  <a:pt x="6423832" y="5191125"/>
                  <a:pt x="6381744" y="5191125"/>
                </a:cubicBezTo>
                <a:lnTo>
                  <a:pt x="76206" y="5191125"/>
                </a:lnTo>
                <a:cubicBezTo>
                  <a:pt x="34118" y="5191125"/>
                  <a:pt x="0" y="5157007"/>
                  <a:pt x="0" y="51149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533525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 (R² Score)</a:t>
            </a:r>
            <a:endParaRPr lang="en-US" sz="1600" dirty="0"/>
          </a:p>
        </p:txBody>
      </p:sp>
      <p:pic>
        <p:nvPicPr>
          <p:cNvPr id="7" name="Image 0" descr="https://kimi-img.moonshot.cn/pub/slides/26-01-26-07:24:08-d5rac63o7or9mbkgf8l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1876425"/>
            <a:ext cx="6143625" cy="28575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42925" y="4848225"/>
            <a:ext cx="6143625" cy="1028700"/>
          </a:xfrm>
          <a:custGeom>
            <a:avLst/>
            <a:gdLst/>
            <a:ahLst/>
            <a:cxnLst/>
            <a:rect l="l" t="t" r="r" b="b"/>
            <a:pathLst>
              <a:path w="6143625" h="1028700">
                <a:moveTo>
                  <a:pt x="38103" y="0"/>
                </a:moveTo>
                <a:lnTo>
                  <a:pt x="6105522" y="0"/>
                </a:lnTo>
                <a:cubicBezTo>
                  <a:pt x="6126566" y="0"/>
                  <a:pt x="6143625" y="17059"/>
                  <a:pt x="6143625" y="38103"/>
                </a:cubicBezTo>
                <a:lnTo>
                  <a:pt x="6143625" y="990597"/>
                </a:lnTo>
                <a:cubicBezTo>
                  <a:pt x="6143625" y="1011641"/>
                  <a:pt x="6126566" y="1028700"/>
                  <a:pt x="6105522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7225" y="4962525"/>
            <a:ext cx="599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7225" y="5267325"/>
            <a:ext cx="5991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consistently outperform linear models.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sbytes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most predictable, while timing metrics are challenging.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04224" y="1376363"/>
            <a:ext cx="4800600" cy="1990725"/>
          </a:xfrm>
          <a:custGeom>
            <a:avLst/>
            <a:gdLst/>
            <a:ahLst/>
            <a:cxnLst/>
            <a:rect l="l" t="t" r="r" b="b"/>
            <a:pathLst>
              <a:path w="4800600" h="1990725">
                <a:moveTo>
                  <a:pt x="76205" y="0"/>
                </a:moveTo>
                <a:lnTo>
                  <a:pt x="4724395" y="0"/>
                </a:lnTo>
                <a:cubicBezTo>
                  <a:pt x="4766482" y="0"/>
                  <a:pt x="4800600" y="34118"/>
                  <a:pt x="4800600" y="76205"/>
                </a:cubicBezTo>
                <a:lnTo>
                  <a:pt x="4800600" y="1914520"/>
                </a:lnTo>
                <a:cubicBezTo>
                  <a:pt x="4800600" y="1956607"/>
                  <a:pt x="4766482" y="1990725"/>
                  <a:pt x="4724395" y="1990725"/>
                </a:cubicBezTo>
                <a:lnTo>
                  <a:pt x="76205" y="1990725"/>
                </a:lnTo>
                <a:cubicBezTo>
                  <a:pt x="34118" y="1990725"/>
                  <a:pt x="0" y="1956607"/>
                  <a:pt x="0" y="19145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61386" y="153352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Predictive Features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61386" y="1914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811" y="19145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66186" y="1914525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srcip: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 IP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61386" y="2181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811" y="21812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66186" y="2181225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dstip: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Destination IP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161386" y="2447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811" y="24479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66186" y="244792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Connection state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161386" y="2714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811" y="27146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66186" y="271462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sttl: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 TTL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161386" y="2981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6" name="Text 23"/>
          <p:cNvSpPr/>
          <p:nvPr/>
        </p:nvSpPr>
        <p:spPr>
          <a:xfrm>
            <a:off x="7132811" y="2981325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66186" y="29813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tcprtt: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TCP RTT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004224" y="3490913"/>
            <a:ext cx="4800600" cy="1914525"/>
          </a:xfrm>
          <a:custGeom>
            <a:avLst/>
            <a:gdLst/>
            <a:ahLst/>
            <a:cxnLst/>
            <a:rect l="l" t="t" r="r" b="b"/>
            <a:pathLst>
              <a:path w="4800600" h="1914525">
                <a:moveTo>
                  <a:pt x="76198" y="0"/>
                </a:moveTo>
                <a:lnTo>
                  <a:pt x="4724402" y="0"/>
                </a:lnTo>
                <a:cubicBezTo>
                  <a:pt x="4766485" y="0"/>
                  <a:pt x="4800600" y="34115"/>
                  <a:pt x="4800600" y="76198"/>
                </a:cubicBezTo>
                <a:lnTo>
                  <a:pt x="4800600" y="1838327"/>
                </a:lnTo>
                <a:cubicBezTo>
                  <a:pt x="4800600" y="1880410"/>
                  <a:pt x="4766485" y="1914525"/>
                  <a:pt x="4724402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61386" y="3648075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Cross-Validated RMSE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161386" y="4029075"/>
            <a:ext cx="4486275" cy="381000"/>
          </a:xfrm>
          <a:custGeom>
            <a:avLst/>
            <a:gdLst/>
            <a:ahLst/>
            <a:cxnLst/>
            <a:rect l="l" t="t" r="r" b="b"/>
            <a:pathLst>
              <a:path w="4486275" h="381000">
                <a:moveTo>
                  <a:pt x="38100" y="0"/>
                </a:moveTo>
                <a:lnTo>
                  <a:pt x="4448175" y="0"/>
                </a:lnTo>
                <a:cubicBezTo>
                  <a:pt x="4469203" y="0"/>
                  <a:pt x="4486275" y="17072"/>
                  <a:pt x="4486275" y="38100"/>
                </a:cubicBezTo>
                <a:lnTo>
                  <a:pt x="4486275" y="342900"/>
                </a:lnTo>
                <a:cubicBezTo>
                  <a:pt x="4486275" y="363928"/>
                  <a:pt x="4469203" y="381000"/>
                  <a:pt x="44481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237586" y="4105275"/>
            <a:ext cx="33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dur: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268894" y="4105275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0.89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161386" y="4448175"/>
            <a:ext cx="4486275" cy="381000"/>
          </a:xfrm>
          <a:custGeom>
            <a:avLst/>
            <a:gdLst/>
            <a:ahLst/>
            <a:cxnLst/>
            <a:rect l="l" t="t" r="r" b="b"/>
            <a:pathLst>
              <a:path w="4486275" h="381000">
                <a:moveTo>
                  <a:pt x="38100" y="0"/>
                </a:moveTo>
                <a:lnTo>
                  <a:pt x="4448175" y="0"/>
                </a:lnTo>
                <a:cubicBezTo>
                  <a:pt x="4469203" y="0"/>
                  <a:pt x="4486275" y="17072"/>
                  <a:pt x="4486275" y="38100"/>
                </a:cubicBezTo>
                <a:lnTo>
                  <a:pt x="4486275" y="342900"/>
                </a:lnTo>
                <a:cubicBezTo>
                  <a:pt x="4486275" y="363928"/>
                  <a:pt x="4469203" y="381000"/>
                  <a:pt x="44481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237586" y="4524375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sbytes: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262792" y="452437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1,247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161386" y="4867275"/>
            <a:ext cx="4486275" cy="381000"/>
          </a:xfrm>
          <a:custGeom>
            <a:avLst/>
            <a:gdLst/>
            <a:ahLst/>
            <a:cxnLst/>
            <a:rect l="l" t="t" r="r" b="b"/>
            <a:pathLst>
              <a:path w="4486275" h="381000">
                <a:moveTo>
                  <a:pt x="38100" y="0"/>
                </a:moveTo>
                <a:lnTo>
                  <a:pt x="4448175" y="0"/>
                </a:lnTo>
                <a:cubicBezTo>
                  <a:pt x="4469203" y="0"/>
                  <a:pt x="4486275" y="17072"/>
                  <a:pt x="4486275" y="38100"/>
                </a:cubicBezTo>
                <a:lnTo>
                  <a:pt x="4486275" y="342900"/>
                </a:lnTo>
                <a:cubicBezTo>
                  <a:pt x="4486275" y="363928"/>
                  <a:pt x="4469203" y="381000"/>
                  <a:pt x="44481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237586" y="4943475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Sload: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1282586" y="4943475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2.1M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004224" y="5529263"/>
            <a:ext cx="4800600" cy="1038225"/>
          </a:xfrm>
          <a:custGeom>
            <a:avLst/>
            <a:gdLst/>
            <a:ahLst/>
            <a:cxnLst/>
            <a:rect l="l" t="t" r="r" b="b"/>
            <a:pathLst>
              <a:path w="4800600" h="1038225">
                <a:moveTo>
                  <a:pt x="76195" y="0"/>
                </a:moveTo>
                <a:lnTo>
                  <a:pt x="4724405" y="0"/>
                </a:lnTo>
                <a:cubicBezTo>
                  <a:pt x="4766486" y="0"/>
                  <a:pt x="4800600" y="34114"/>
                  <a:pt x="4800600" y="76195"/>
                </a:cubicBezTo>
                <a:lnTo>
                  <a:pt x="4800600" y="962030"/>
                </a:lnTo>
                <a:cubicBezTo>
                  <a:pt x="4800600" y="1004111"/>
                  <a:pt x="4766486" y="1038225"/>
                  <a:pt x="47244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23286" y="5648325"/>
            <a:ext cx="463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Holdout Validation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123286" y="5953125"/>
            <a:ext cx="4638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Performance on 10K unseen samples confirms generalization.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Analysis for Anomaly Detection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629275" cy="2562225"/>
          </a:xfrm>
          <a:custGeom>
            <a:avLst/>
            <a:gdLst/>
            <a:ahLst/>
            <a:cxnLst/>
            <a:rect l="l" t="t" r="r" b="b"/>
            <a:pathLst>
              <a:path w="5629275" h="2562225">
                <a:moveTo>
                  <a:pt x="76201" y="0"/>
                </a:moveTo>
                <a:lnTo>
                  <a:pt x="5553074" y="0"/>
                </a:lnTo>
                <a:cubicBezTo>
                  <a:pt x="5595131" y="0"/>
                  <a:pt x="5629275" y="34144"/>
                  <a:pt x="5629275" y="76201"/>
                </a:cubicBezTo>
                <a:lnTo>
                  <a:pt x="5629275" y="2486024"/>
                </a:lnTo>
                <a:cubicBezTo>
                  <a:pt x="5629275" y="2528081"/>
                  <a:pt x="5595131" y="2562225"/>
                  <a:pt x="5553074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1533525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Concept: Prediction Residuals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9145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highlight>
                  <a:srgbClr val="A0AE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Residual = Actual - Predicted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Large residuals indicate anomalous behavior.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486025"/>
            <a:ext cx="5314950" cy="1295400"/>
          </a:xfrm>
          <a:custGeom>
            <a:avLst/>
            <a:gdLst/>
            <a:ahLst/>
            <a:cxnLst/>
            <a:rect l="l" t="t" r="r" b="b"/>
            <a:pathLst>
              <a:path w="5314950" h="1295400">
                <a:moveTo>
                  <a:pt x="38098" y="0"/>
                </a:moveTo>
                <a:lnTo>
                  <a:pt x="5276852" y="0"/>
                </a:lnTo>
                <a:cubicBezTo>
                  <a:pt x="5297879" y="0"/>
                  <a:pt x="5314950" y="17071"/>
                  <a:pt x="5314950" y="38098"/>
                </a:cubicBezTo>
                <a:lnTo>
                  <a:pt x="5314950" y="1257302"/>
                </a:lnTo>
                <a:cubicBezTo>
                  <a:pt x="5314950" y="1278343"/>
                  <a:pt x="5297893" y="1295400"/>
                  <a:pt x="5276852" y="1295400"/>
                </a:cubicBezTo>
                <a:lnTo>
                  <a:pt x="38098" y="1295400"/>
                </a:lnTo>
                <a:cubicBezTo>
                  <a:pt x="17071" y="1295400"/>
                  <a:pt x="0" y="1278329"/>
                  <a:pt x="0" y="12573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60032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Residuals 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9384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2905125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novel attack patterns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2051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3171825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network misconfigurations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4718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6" name="Text 14"/>
          <p:cNvSpPr/>
          <p:nvPr/>
        </p:nvSpPr>
        <p:spPr>
          <a:xfrm>
            <a:off x="876300" y="3438525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 classification systems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4062412"/>
            <a:ext cx="5629275" cy="2409825"/>
          </a:xfrm>
          <a:custGeom>
            <a:avLst/>
            <a:gdLst/>
            <a:ahLst/>
            <a:cxnLst/>
            <a:rect l="l" t="t" r="r" b="b"/>
            <a:pathLst>
              <a:path w="5629275" h="2409825">
                <a:moveTo>
                  <a:pt x="76199" y="0"/>
                </a:moveTo>
                <a:lnTo>
                  <a:pt x="5553076" y="0"/>
                </a:lnTo>
                <a:cubicBezTo>
                  <a:pt x="5595160" y="0"/>
                  <a:pt x="5629275" y="34115"/>
                  <a:pt x="5629275" y="76199"/>
                </a:cubicBezTo>
                <a:lnTo>
                  <a:pt x="5629275" y="2333626"/>
                </a:lnTo>
                <a:cubicBezTo>
                  <a:pt x="5629275" y="2375710"/>
                  <a:pt x="5595160" y="2409825"/>
                  <a:pt x="5553076" y="2409825"/>
                </a:cubicBezTo>
                <a:lnTo>
                  <a:pt x="76199" y="2409825"/>
                </a:lnTo>
                <a:cubicBezTo>
                  <a:pt x="34115" y="2409825"/>
                  <a:pt x="0" y="2375710"/>
                  <a:pt x="0" y="2333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925" y="421957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Distribution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456247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of prediction errors reveals systematic patterns for different attack types.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5133975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38098" y="0"/>
                </a:moveTo>
                <a:lnTo>
                  <a:pt x="5276852" y="0"/>
                </a:lnTo>
                <a:cubicBezTo>
                  <a:pt x="5297893" y="0"/>
                  <a:pt x="5314950" y="17057"/>
                  <a:pt x="5314950" y="38098"/>
                </a:cubicBezTo>
                <a:lnTo>
                  <a:pt x="5314950" y="952502"/>
                </a:lnTo>
                <a:cubicBezTo>
                  <a:pt x="5314950" y="973543"/>
                  <a:pt x="5297893" y="990600"/>
                  <a:pt x="5276852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7225" y="52482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 Attacks: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residuals for throughput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7225" y="55149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Reconnaissance: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Elevated timing residuals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225" y="5781675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Unusual byte transfer patterns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6963" y="1376363"/>
            <a:ext cx="5629275" cy="3476625"/>
          </a:xfrm>
          <a:custGeom>
            <a:avLst/>
            <a:gdLst/>
            <a:ahLst/>
            <a:cxnLst/>
            <a:rect l="l" t="t" r="r" b="b"/>
            <a:pathLst>
              <a:path w="5629275" h="3476625">
                <a:moveTo>
                  <a:pt x="76208" y="0"/>
                </a:moveTo>
                <a:lnTo>
                  <a:pt x="5553067" y="0"/>
                </a:lnTo>
                <a:cubicBezTo>
                  <a:pt x="5595156" y="0"/>
                  <a:pt x="5629275" y="34119"/>
                  <a:pt x="5629275" y="76208"/>
                </a:cubicBezTo>
                <a:lnTo>
                  <a:pt x="5629275" y="3400417"/>
                </a:lnTo>
                <a:cubicBezTo>
                  <a:pt x="5629275" y="3442506"/>
                  <a:pt x="5595156" y="3476625"/>
                  <a:pt x="5553067" y="3476625"/>
                </a:cubicBezTo>
                <a:lnTo>
                  <a:pt x="76208" y="3476625"/>
                </a:lnTo>
                <a:cubicBezTo>
                  <a:pt x="34119" y="3476625"/>
                  <a:pt x="0" y="3442506"/>
                  <a:pt x="0" y="3400417"/>
                </a:cubicBezTo>
                <a:lnTo>
                  <a:pt x="0" y="76208"/>
                </a:lnTo>
                <a:cubicBezTo>
                  <a:pt x="0" y="34119"/>
                  <a:pt x="34119" y="0"/>
                  <a:pt x="76208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4125" y="153352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Deployment Framework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3175" y="18764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098" y="0"/>
                </a:moveTo>
                <a:lnTo>
                  <a:pt x="5295900" y="0"/>
                </a:lnTo>
                <a:lnTo>
                  <a:pt x="5295900" y="647700"/>
                </a:ln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53175" y="18764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8425" y="19526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9" name="Text 27"/>
          <p:cNvSpPr/>
          <p:nvPr/>
        </p:nvSpPr>
        <p:spPr>
          <a:xfrm>
            <a:off x="6415088" y="19526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91325" y="1971675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91325" y="22574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performance &amp; flag large deviations.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175" y="26003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098" y="0"/>
                </a:moveTo>
                <a:lnTo>
                  <a:pt x="5295900" y="0"/>
                </a:lnTo>
                <a:lnTo>
                  <a:pt x="5295900" y="647700"/>
                </a:ln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53175" y="26003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4" name="Shape 32"/>
          <p:cNvSpPr/>
          <p:nvPr/>
        </p:nvSpPr>
        <p:spPr>
          <a:xfrm>
            <a:off x="6448425" y="26765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5" name="Text 33"/>
          <p:cNvSpPr/>
          <p:nvPr/>
        </p:nvSpPr>
        <p:spPr>
          <a:xfrm>
            <a:off x="6415088" y="26765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91325" y="269557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Thresholding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91325" y="29813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thresholds based on traffic profiles.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3175" y="33242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098" y="0"/>
                </a:moveTo>
                <a:lnTo>
                  <a:pt x="5295900" y="0"/>
                </a:lnTo>
                <a:lnTo>
                  <a:pt x="5295900" y="647700"/>
                </a:ln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53175" y="33242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0" name="Shape 38"/>
          <p:cNvSpPr/>
          <p:nvPr/>
        </p:nvSpPr>
        <p:spPr>
          <a:xfrm>
            <a:off x="6448425" y="34004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1" name="Text 39"/>
          <p:cNvSpPr/>
          <p:nvPr/>
        </p:nvSpPr>
        <p:spPr>
          <a:xfrm>
            <a:off x="6415088" y="34004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91325" y="3419475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Generation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91325" y="37052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alerts with feature attribution.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3175" y="40481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098" y="0"/>
                </a:moveTo>
                <a:lnTo>
                  <a:pt x="5295900" y="0"/>
                </a:lnTo>
                <a:lnTo>
                  <a:pt x="5295900" y="647700"/>
                </a:ln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53175" y="40481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6" name="Shape 44"/>
          <p:cNvSpPr/>
          <p:nvPr/>
        </p:nvSpPr>
        <p:spPr>
          <a:xfrm>
            <a:off x="6448425" y="41243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7" name="Text 45"/>
          <p:cNvSpPr/>
          <p:nvPr/>
        </p:nvSpPr>
        <p:spPr>
          <a:xfrm>
            <a:off x="6415088" y="41243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91325" y="4143375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Response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91325" y="442912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with classification for comprehensive security.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6963" y="4976813"/>
            <a:ext cx="5629275" cy="1152525"/>
          </a:xfrm>
          <a:custGeom>
            <a:avLst/>
            <a:gdLst/>
            <a:ahLst/>
            <a:cxnLst/>
            <a:rect l="l" t="t" r="r" b="b"/>
            <a:pathLst>
              <a:path w="5629275" h="1152525">
                <a:moveTo>
                  <a:pt x="76205" y="0"/>
                </a:moveTo>
                <a:lnTo>
                  <a:pt x="5553070" y="0"/>
                </a:lnTo>
                <a:cubicBezTo>
                  <a:pt x="5595157" y="0"/>
                  <a:pt x="5629275" y="34118"/>
                  <a:pt x="5629275" y="76205"/>
                </a:cubicBezTo>
                <a:lnTo>
                  <a:pt x="5629275" y="1076320"/>
                </a:lnTo>
                <a:cubicBezTo>
                  <a:pt x="5629275" y="1118407"/>
                  <a:pt x="5595157" y="1152525"/>
                  <a:pt x="55530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7938" y="5181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2" name="Text 50"/>
          <p:cNvSpPr/>
          <p:nvPr/>
        </p:nvSpPr>
        <p:spPr>
          <a:xfrm>
            <a:off x="6553200" y="513397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Complementary Detection Strategy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34125" y="547687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dual-task approach provides layered security: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classification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known threats,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implicit anomaly detection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unknown patterns.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orage.googleapis.com/6d82a933ac3299ff87dca288cbff6c559d755405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5331" b="533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3D4A5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776413"/>
            <a:ext cx="1657350" cy="419100"/>
          </a:xfrm>
          <a:custGeom>
            <a:avLst/>
            <a:gdLst/>
            <a:ahLst/>
            <a:cxnLst/>
            <a:rect l="l" t="t" r="r" b="b"/>
            <a:pathLst>
              <a:path w="1657350" h="419100">
                <a:moveTo>
                  <a:pt x="0" y="0"/>
                </a:moveTo>
                <a:lnTo>
                  <a:pt x="1657350" y="0"/>
                </a:lnTo>
                <a:lnTo>
                  <a:pt x="16573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7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776413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852612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424113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Insights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6721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insights, model comparisons, and practical implications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43488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72" y="345872"/>
            <a:ext cx="11569430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spc="54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872" y="622570"/>
            <a:ext cx="116558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 &amp;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5872" y="1072204"/>
            <a:ext cx="830094" cy="34587"/>
          </a:xfrm>
          <a:custGeom>
            <a:avLst/>
            <a:gdLst/>
            <a:ahLst/>
            <a:cxnLst/>
            <a:rect l="l" t="t" r="r" b="b"/>
            <a:pathLst>
              <a:path w="830094" h="34587">
                <a:moveTo>
                  <a:pt x="0" y="0"/>
                </a:moveTo>
                <a:lnTo>
                  <a:pt x="830094" y="0"/>
                </a:lnTo>
                <a:lnTo>
                  <a:pt x="830094" y="34587"/>
                </a:lnTo>
                <a:lnTo>
                  <a:pt x="0" y="34587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50196" y="1249464"/>
            <a:ext cx="5672306" cy="2784272"/>
          </a:xfrm>
          <a:custGeom>
            <a:avLst/>
            <a:gdLst/>
            <a:ahLst/>
            <a:cxnLst/>
            <a:rect l="l" t="t" r="r" b="b"/>
            <a:pathLst>
              <a:path w="5672306" h="2784272">
                <a:moveTo>
                  <a:pt x="69161" y="0"/>
                </a:moveTo>
                <a:lnTo>
                  <a:pt x="5603145" y="0"/>
                </a:lnTo>
                <a:cubicBezTo>
                  <a:pt x="5641342" y="0"/>
                  <a:pt x="5672306" y="30965"/>
                  <a:pt x="5672306" y="69161"/>
                </a:cubicBezTo>
                <a:lnTo>
                  <a:pt x="5672306" y="2715111"/>
                </a:lnTo>
                <a:cubicBezTo>
                  <a:pt x="5672306" y="2753308"/>
                  <a:pt x="5641342" y="2784272"/>
                  <a:pt x="5603145" y="2784272"/>
                </a:cubicBezTo>
                <a:lnTo>
                  <a:pt x="69161" y="2784272"/>
                </a:lnTo>
                <a:cubicBezTo>
                  <a:pt x="30965" y="2784272"/>
                  <a:pt x="0" y="2753308"/>
                  <a:pt x="0" y="2715111"/>
                </a:cubicBezTo>
                <a:lnTo>
                  <a:pt x="0" y="69161"/>
                </a:lnTo>
                <a:cubicBezTo>
                  <a:pt x="0" y="30990"/>
                  <a:pt x="30990" y="0"/>
                  <a:pt x="6916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485" y="1426723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48740" y="0"/>
                </a:moveTo>
                <a:lnTo>
                  <a:pt x="124399" y="0"/>
                </a:lnTo>
                <a:cubicBezTo>
                  <a:pt x="133350" y="0"/>
                  <a:pt x="140646" y="7363"/>
                  <a:pt x="140308" y="16280"/>
                </a:cubicBezTo>
                <a:cubicBezTo>
                  <a:pt x="140240" y="18070"/>
                  <a:pt x="140173" y="19861"/>
                  <a:pt x="140072" y="21617"/>
                </a:cubicBezTo>
                <a:lnTo>
                  <a:pt x="156825" y="21617"/>
                </a:lnTo>
                <a:cubicBezTo>
                  <a:pt x="165640" y="21617"/>
                  <a:pt x="173409" y="28913"/>
                  <a:pt x="172734" y="38438"/>
                </a:cubicBezTo>
                <a:cubicBezTo>
                  <a:pt x="170200" y="73464"/>
                  <a:pt x="152299" y="92717"/>
                  <a:pt x="132877" y="102782"/>
                </a:cubicBezTo>
                <a:cubicBezTo>
                  <a:pt x="127540" y="105552"/>
                  <a:pt x="122102" y="107612"/>
                  <a:pt x="116935" y="109132"/>
                </a:cubicBezTo>
                <a:cubicBezTo>
                  <a:pt x="110112" y="118792"/>
                  <a:pt x="103019" y="123893"/>
                  <a:pt x="97378" y="126628"/>
                </a:cubicBezTo>
                <a:lnTo>
                  <a:pt x="97378" y="151319"/>
                </a:lnTo>
                <a:lnTo>
                  <a:pt x="118995" y="151319"/>
                </a:lnTo>
                <a:cubicBezTo>
                  <a:pt x="124973" y="151319"/>
                  <a:pt x="129803" y="156149"/>
                  <a:pt x="129803" y="162128"/>
                </a:cubicBezTo>
                <a:cubicBezTo>
                  <a:pt x="129803" y="168106"/>
                  <a:pt x="124973" y="172936"/>
                  <a:pt x="118995" y="172936"/>
                </a:cubicBezTo>
                <a:lnTo>
                  <a:pt x="54144" y="172936"/>
                </a:lnTo>
                <a:cubicBezTo>
                  <a:pt x="48165" y="172936"/>
                  <a:pt x="43335" y="168106"/>
                  <a:pt x="43335" y="162128"/>
                </a:cubicBezTo>
                <a:cubicBezTo>
                  <a:pt x="43335" y="156149"/>
                  <a:pt x="48165" y="151319"/>
                  <a:pt x="54144" y="151319"/>
                </a:cubicBezTo>
                <a:lnTo>
                  <a:pt x="75761" y="151319"/>
                </a:lnTo>
                <a:lnTo>
                  <a:pt x="75761" y="126628"/>
                </a:lnTo>
                <a:cubicBezTo>
                  <a:pt x="70357" y="124028"/>
                  <a:pt x="63635" y="119198"/>
                  <a:pt x="57082" y="110314"/>
                </a:cubicBezTo>
                <a:cubicBezTo>
                  <a:pt x="50868" y="108693"/>
                  <a:pt x="44112" y="106227"/>
                  <a:pt x="37526" y="102512"/>
                </a:cubicBezTo>
                <a:cubicBezTo>
                  <a:pt x="19253" y="92278"/>
                  <a:pt x="2770" y="72991"/>
                  <a:pt x="405" y="38370"/>
                </a:cubicBezTo>
                <a:cubicBezTo>
                  <a:pt x="-236" y="28879"/>
                  <a:pt x="7498" y="21583"/>
                  <a:pt x="16314" y="21583"/>
                </a:cubicBezTo>
                <a:lnTo>
                  <a:pt x="33067" y="21583"/>
                </a:lnTo>
                <a:cubicBezTo>
                  <a:pt x="32966" y="19827"/>
                  <a:pt x="32898" y="18070"/>
                  <a:pt x="32831" y="16247"/>
                </a:cubicBezTo>
                <a:cubicBezTo>
                  <a:pt x="32493" y="7296"/>
                  <a:pt x="39789" y="-34"/>
                  <a:pt x="48740" y="-34"/>
                </a:cubicBezTo>
                <a:close/>
                <a:moveTo>
                  <a:pt x="34283" y="37830"/>
                </a:moveTo>
                <a:lnTo>
                  <a:pt x="16584" y="37830"/>
                </a:lnTo>
                <a:cubicBezTo>
                  <a:pt x="18678" y="66439"/>
                  <a:pt x="31818" y="80760"/>
                  <a:pt x="45362" y="88360"/>
                </a:cubicBezTo>
                <a:cubicBezTo>
                  <a:pt x="40498" y="75761"/>
                  <a:pt x="36479" y="59312"/>
                  <a:pt x="34283" y="37830"/>
                </a:cubicBezTo>
                <a:close/>
                <a:moveTo>
                  <a:pt x="128351" y="86738"/>
                </a:moveTo>
                <a:cubicBezTo>
                  <a:pt x="142031" y="78699"/>
                  <a:pt x="154393" y="64412"/>
                  <a:pt x="156487" y="37830"/>
                </a:cubicBezTo>
                <a:lnTo>
                  <a:pt x="138822" y="37830"/>
                </a:lnTo>
                <a:cubicBezTo>
                  <a:pt x="136728" y="58400"/>
                  <a:pt x="132945" y="74376"/>
                  <a:pt x="128351" y="86738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Text 5"/>
          <p:cNvSpPr/>
          <p:nvPr/>
        </p:nvSpPr>
        <p:spPr>
          <a:xfrm>
            <a:off x="709038" y="1392136"/>
            <a:ext cx="525726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 1: Model Superiority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2868" y="1738009"/>
            <a:ext cx="5456136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089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Tree-based ensemble methods consistently outperform linear models across both tasks.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2868" y="2291404"/>
            <a:ext cx="5386962" cy="1011677"/>
          </a:xfrm>
          <a:custGeom>
            <a:avLst/>
            <a:gdLst/>
            <a:ahLst/>
            <a:cxnLst/>
            <a:rect l="l" t="t" r="r" b="b"/>
            <a:pathLst>
              <a:path w="5386962" h="1011677">
                <a:moveTo>
                  <a:pt x="34589" y="0"/>
                </a:moveTo>
                <a:lnTo>
                  <a:pt x="5352372" y="0"/>
                </a:lnTo>
                <a:cubicBezTo>
                  <a:pt x="5371476" y="0"/>
                  <a:pt x="5386962" y="15486"/>
                  <a:pt x="5386962" y="34589"/>
                </a:cubicBezTo>
                <a:lnTo>
                  <a:pt x="5386962" y="977087"/>
                </a:lnTo>
                <a:cubicBezTo>
                  <a:pt x="5386962" y="996190"/>
                  <a:pt x="5371476" y="1011677"/>
                  <a:pt x="5352372" y="1011677"/>
                </a:cubicBezTo>
                <a:lnTo>
                  <a:pt x="34589" y="1011677"/>
                </a:lnTo>
                <a:cubicBezTo>
                  <a:pt x="15486" y="1011677"/>
                  <a:pt x="0" y="996190"/>
                  <a:pt x="0" y="977087"/>
                </a:cubicBezTo>
                <a:lnTo>
                  <a:pt x="0" y="34589"/>
                </a:lnTo>
                <a:cubicBezTo>
                  <a:pt x="0" y="15499"/>
                  <a:pt x="15499" y="0"/>
                  <a:pt x="3458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6630" y="2395166"/>
            <a:ext cx="524861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Classification: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XGBoost achieves 92.3% recall vs 85.1% for LR.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630" y="2637277"/>
            <a:ext cx="524861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Regression: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XGBoost R² of 0.912 vs 0.456 for LR.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6630" y="2918298"/>
            <a:ext cx="5179438" cy="8647"/>
          </a:xfrm>
          <a:custGeom>
            <a:avLst/>
            <a:gdLst/>
            <a:ahLst/>
            <a:cxnLst/>
            <a:rect l="l" t="t" r="r" b="b"/>
            <a:pathLst>
              <a:path w="5179438" h="8647">
                <a:moveTo>
                  <a:pt x="0" y="0"/>
                </a:moveTo>
                <a:lnTo>
                  <a:pt x="5179438" y="0"/>
                </a:lnTo>
                <a:lnTo>
                  <a:pt x="5179438" y="8647"/>
                </a:lnTo>
                <a:lnTo>
                  <a:pt x="0" y="8647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13" name="Text 11"/>
          <p:cNvSpPr/>
          <p:nvPr/>
        </p:nvSpPr>
        <p:spPr>
          <a:xfrm>
            <a:off x="596630" y="2913974"/>
            <a:ext cx="5248613" cy="276698"/>
          </a:xfrm>
          <a:prstGeom prst="rect">
            <a:avLst/>
          </a:prstGeom>
          <a:noFill/>
          <a:ln/>
        </p:spPr>
        <p:txBody>
          <a:bodyPr wrap="square" lIns="0" tIns="69174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Non-linear interactions are critical.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68485" y="1249464"/>
            <a:ext cx="5672306" cy="2784272"/>
          </a:xfrm>
          <a:custGeom>
            <a:avLst/>
            <a:gdLst/>
            <a:ahLst/>
            <a:cxnLst/>
            <a:rect l="l" t="t" r="r" b="b"/>
            <a:pathLst>
              <a:path w="5672306" h="2784272">
                <a:moveTo>
                  <a:pt x="69161" y="0"/>
                </a:moveTo>
                <a:lnTo>
                  <a:pt x="5603145" y="0"/>
                </a:lnTo>
                <a:cubicBezTo>
                  <a:pt x="5641342" y="0"/>
                  <a:pt x="5672306" y="30965"/>
                  <a:pt x="5672306" y="69161"/>
                </a:cubicBezTo>
                <a:lnTo>
                  <a:pt x="5672306" y="2715111"/>
                </a:lnTo>
                <a:cubicBezTo>
                  <a:pt x="5672306" y="2753308"/>
                  <a:pt x="5641342" y="2784272"/>
                  <a:pt x="5603145" y="2784272"/>
                </a:cubicBezTo>
                <a:lnTo>
                  <a:pt x="69161" y="2784272"/>
                </a:lnTo>
                <a:cubicBezTo>
                  <a:pt x="30965" y="2784272"/>
                  <a:pt x="0" y="2753308"/>
                  <a:pt x="0" y="2715111"/>
                </a:cubicBezTo>
                <a:lnTo>
                  <a:pt x="0" y="69161"/>
                </a:lnTo>
                <a:cubicBezTo>
                  <a:pt x="0" y="30990"/>
                  <a:pt x="30990" y="0"/>
                  <a:pt x="69161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2774" y="1426723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113489" y="118894"/>
                </a:moveTo>
                <a:cubicBezTo>
                  <a:pt x="146320" y="118894"/>
                  <a:pt x="172936" y="92278"/>
                  <a:pt x="172936" y="59447"/>
                </a:cubicBezTo>
                <a:cubicBezTo>
                  <a:pt x="172936" y="26616"/>
                  <a:pt x="146320" y="0"/>
                  <a:pt x="113489" y="0"/>
                </a:cubicBezTo>
                <a:cubicBezTo>
                  <a:pt x="80659" y="0"/>
                  <a:pt x="54043" y="26616"/>
                  <a:pt x="54043" y="59447"/>
                </a:cubicBezTo>
                <a:cubicBezTo>
                  <a:pt x="54043" y="65763"/>
                  <a:pt x="55022" y="71877"/>
                  <a:pt x="56846" y="77585"/>
                </a:cubicBezTo>
                <a:lnTo>
                  <a:pt x="2364" y="132066"/>
                </a:lnTo>
                <a:cubicBezTo>
                  <a:pt x="844" y="133586"/>
                  <a:pt x="0" y="135647"/>
                  <a:pt x="0" y="137809"/>
                </a:cubicBezTo>
                <a:lnTo>
                  <a:pt x="0" y="164830"/>
                </a:lnTo>
                <a:cubicBezTo>
                  <a:pt x="0" y="169322"/>
                  <a:pt x="3614" y="172936"/>
                  <a:pt x="8106" y="172936"/>
                </a:cubicBezTo>
                <a:lnTo>
                  <a:pt x="35128" y="172936"/>
                </a:lnTo>
                <a:cubicBezTo>
                  <a:pt x="39620" y="172936"/>
                  <a:pt x="43234" y="169322"/>
                  <a:pt x="43234" y="164830"/>
                </a:cubicBezTo>
                <a:lnTo>
                  <a:pt x="43234" y="151319"/>
                </a:lnTo>
                <a:lnTo>
                  <a:pt x="56745" y="151319"/>
                </a:lnTo>
                <a:cubicBezTo>
                  <a:pt x="61237" y="151319"/>
                  <a:pt x="64851" y="147705"/>
                  <a:pt x="64851" y="143213"/>
                </a:cubicBezTo>
                <a:lnTo>
                  <a:pt x="64851" y="129702"/>
                </a:lnTo>
                <a:lnTo>
                  <a:pt x="78362" y="129702"/>
                </a:lnTo>
                <a:cubicBezTo>
                  <a:pt x="80523" y="129702"/>
                  <a:pt x="82584" y="128858"/>
                  <a:pt x="84104" y="127338"/>
                </a:cubicBezTo>
                <a:lnTo>
                  <a:pt x="95351" y="116090"/>
                </a:lnTo>
                <a:cubicBezTo>
                  <a:pt x="101060" y="117914"/>
                  <a:pt x="107173" y="118894"/>
                  <a:pt x="113489" y="118894"/>
                </a:cubicBezTo>
                <a:close/>
                <a:moveTo>
                  <a:pt x="127000" y="32426"/>
                </a:moveTo>
                <a:cubicBezTo>
                  <a:pt x="134457" y="32426"/>
                  <a:pt x="140511" y="38479"/>
                  <a:pt x="140511" y="45936"/>
                </a:cubicBezTo>
                <a:cubicBezTo>
                  <a:pt x="140511" y="53393"/>
                  <a:pt x="134457" y="59447"/>
                  <a:pt x="127000" y="59447"/>
                </a:cubicBezTo>
                <a:cubicBezTo>
                  <a:pt x="119543" y="59447"/>
                  <a:pt x="113489" y="53393"/>
                  <a:pt x="113489" y="45936"/>
                </a:cubicBezTo>
                <a:cubicBezTo>
                  <a:pt x="113489" y="38479"/>
                  <a:pt x="119543" y="32426"/>
                  <a:pt x="127000" y="32426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6527327" y="1392136"/>
            <a:ext cx="525726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 2: Feature Convergence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11157" y="1738009"/>
            <a:ext cx="5456136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089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 predictive features are consistent across tasks, aligning with domain knowledge.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11157" y="2291404"/>
            <a:ext cx="5386962" cy="1253787"/>
          </a:xfrm>
          <a:custGeom>
            <a:avLst/>
            <a:gdLst/>
            <a:ahLst/>
            <a:cxnLst/>
            <a:rect l="l" t="t" r="r" b="b"/>
            <a:pathLst>
              <a:path w="5386962" h="1253787">
                <a:moveTo>
                  <a:pt x="34592" y="0"/>
                </a:moveTo>
                <a:lnTo>
                  <a:pt x="5352370" y="0"/>
                </a:lnTo>
                <a:cubicBezTo>
                  <a:pt x="5371474" y="0"/>
                  <a:pt x="5386962" y="15487"/>
                  <a:pt x="5386962" y="34592"/>
                </a:cubicBezTo>
                <a:lnTo>
                  <a:pt x="5386962" y="1219195"/>
                </a:lnTo>
                <a:cubicBezTo>
                  <a:pt x="5386962" y="1238300"/>
                  <a:pt x="5371474" y="1253787"/>
                  <a:pt x="5352370" y="1253787"/>
                </a:cubicBezTo>
                <a:lnTo>
                  <a:pt x="34592" y="1253787"/>
                </a:lnTo>
                <a:cubicBezTo>
                  <a:pt x="15487" y="1253787"/>
                  <a:pt x="0" y="1238300"/>
                  <a:pt x="0" y="1219195"/>
                </a:cubicBezTo>
                <a:lnTo>
                  <a:pt x="0" y="34592"/>
                </a:lnTo>
                <a:cubicBezTo>
                  <a:pt x="0" y="15487"/>
                  <a:pt x="15487" y="0"/>
                  <a:pt x="3459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14919" y="2395166"/>
            <a:ext cx="524861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Importance: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sttl, ct_state_ttl, state.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4919" y="2637277"/>
            <a:ext cx="524861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Classification-Specific: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TTL features dominate.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4919" y="2879387"/>
            <a:ext cx="524861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Regression-Specific: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IP addresses are key for traffic volume.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14919" y="3160409"/>
            <a:ext cx="5179438" cy="8647"/>
          </a:xfrm>
          <a:custGeom>
            <a:avLst/>
            <a:gdLst/>
            <a:ahLst/>
            <a:cxnLst/>
            <a:rect l="l" t="t" r="r" b="b"/>
            <a:pathLst>
              <a:path w="5179438" h="8647">
                <a:moveTo>
                  <a:pt x="0" y="0"/>
                </a:moveTo>
                <a:lnTo>
                  <a:pt x="5179438" y="0"/>
                </a:lnTo>
                <a:lnTo>
                  <a:pt x="5179438" y="8647"/>
                </a:lnTo>
                <a:lnTo>
                  <a:pt x="0" y="8647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23" name="Text 21"/>
          <p:cNvSpPr/>
          <p:nvPr/>
        </p:nvSpPr>
        <p:spPr>
          <a:xfrm>
            <a:off x="6414919" y="3156085"/>
            <a:ext cx="5248613" cy="276698"/>
          </a:xfrm>
          <a:prstGeom prst="rect">
            <a:avLst/>
          </a:prstGeom>
          <a:noFill/>
          <a:ln/>
        </p:spPr>
        <p:txBody>
          <a:bodyPr wrap="square" lIns="0" tIns="69174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30000"/>
              </a:lnSpc>
            </a:pPr>
            <a:r>
              <a:rPr lang="en-US" sz="1089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Feature robustness validates the approach.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0196" y="4184177"/>
            <a:ext cx="5672306" cy="1305668"/>
          </a:xfrm>
          <a:custGeom>
            <a:avLst/>
            <a:gdLst/>
            <a:ahLst/>
            <a:cxnLst/>
            <a:rect l="l" t="t" r="r" b="b"/>
            <a:pathLst>
              <a:path w="5672306" h="1305668">
                <a:moveTo>
                  <a:pt x="69174" y="0"/>
                </a:moveTo>
                <a:lnTo>
                  <a:pt x="5603132" y="0"/>
                </a:lnTo>
                <a:cubicBezTo>
                  <a:pt x="5641336" y="0"/>
                  <a:pt x="5672306" y="30970"/>
                  <a:pt x="5672306" y="69174"/>
                </a:cubicBezTo>
                <a:lnTo>
                  <a:pt x="5672306" y="1236494"/>
                </a:lnTo>
                <a:cubicBezTo>
                  <a:pt x="5672306" y="1274698"/>
                  <a:pt x="5641336" y="1305668"/>
                  <a:pt x="5603132" y="1305668"/>
                </a:cubicBezTo>
                <a:lnTo>
                  <a:pt x="69174" y="1305668"/>
                </a:lnTo>
                <a:cubicBezTo>
                  <a:pt x="30970" y="1305668"/>
                  <a:pt x="0" y="1274698"/>
                  <a:pt x="0" y="1236494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485" y="4361437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86468" y="0"/>
                </a:moveTo>
                <a:cubicBezTo>
                  <a:pt x="88022" y="0"/>
                  <a:pt x="89576" y="338"/>
                  <a:pt x="90994" y="980"/>
                </a:cubicBezTo>
                <a:lnTo>
                  <a:pt x="154629" y="27967"/>
                </a:lnTo>
                <a:cubicBezTo>
                  <a:pt x="162060" y="31108"/>
                  <a:pt x="167599" y="38438"/>
                  <a:pt x="167566" y="47287"/>
                </a:cubicBezTo>
                <a:cubicBezTo>
                  <a:pt x="167397" y="80794"/>
                  <a:pt x="153616" y="142098"/>
                  <a:pt x="95419" y="169964"/>
                </a:cubicBezTo>
                <a:cubicBezTo>
                  <a:pt x="89778" y="172666"/>
                  <a:pt x="83226" y="172666"/>
                  <a:pt x="77585" y="169964"/>
                </a:cubicBezTo>
                <a:cubicBezTo>
                  <a:pt x="19354" y="142098"/>
                  <a:pt x="5607" y="80794"/>
                  <a:pt x="5438" y="47287"/>
                </a:cubicBezTo>
                <a:cubicBezTo>
                  <a:pt x="5404" y="38438"/>
                  <a:pt x="10944" y="31108"/>
                  <a:pt x="18374" y="27967"/>
                </a:cubicBezTo>
                <a:lnTo>
                  <a:pt x="81976" y="980"/>
                </a:lnTo>
                <a:cubicBezTo>
                  <a:pt x="83394" y="338"/>
                  <a:pt x="84914" y="0"/>
                  <a:pt x="86468" y="0"/>
                </a:cubicBezTo>
                <a:close/>
                <a:moveTo>
                  <a:pt x="86468" y="22563"/>
                </a:moveTo>
                <a:lnTo>
                  <a:pt x="86468" y="150272"/>
                </a:lnTo>
                <a:cubicBezTo>
                  <a:pt x="133080" y="127709"/>
                  <a:pt x="145611" y="77720"/>
                  <a:pt x="145915" y="47794"/>
                </a:cubicBezTo>
                <a:lnTo>
                  <a:pt x="86468" y="22597"/>
                </a:lnTo>
                <a:lnTo>
                  <a:pt x="86468" y="22597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6" name="Text 24"/>
          <p:cNvSpPr/>
          <p:nvPr/>
        </p:nvSpPr>
        <p:spPr>
          <a:xfrm>
            <a:off x="709038" y="4326849"/>
            <a:ext cx="525726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 3: Data Integrity Impact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2868" y="4672722"/>
            <a:ext cx="5456136" cy="67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089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Deduplication and leakage prevention are critical for realistic estimates. The 22% duplicate rate and feature leaks would have inflated performance, while holdout validation reveals generalization gaps.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68485" y="4184177"/>
            <a:ext cx="5672306" cy="1305668"/>
          </a:xfrm>
          <a:custGeom>
            <a:avLst/>
            <a:gdLst/>
            <a:ahLst/>
            <a:cxnLst/>
            <a:rect l="l" t="t" r="r" b="b"/>
            <a:pathLst>
              <a:path w="5672306" h="1305668">
                <a:moveTo>
                  <a:pt x="69174" y="0"/>
                </a:moveTo>
                <a:lnTo>
                  <a:pt x="5603132" y="0"/>
                </a:lnTo>
                <a:cubicBezTo>
                  <a:pt x="5641336" y="0"/>
                  <a:pt x="5672306" y="30970"/>
                  <a:pt x="5672306" y="69174"/>
                </a:cubicBezTo>
                <a:lnTo>
                  <a:pt x="5672306" y="1236494"/>
                </a:lnTo>
                <a:cubicBezTo>
                  <a:pt x="5672306" y="1274698"/>
                  <a:pt x="5641336" y="1305668"/>
                  <a:pt x="5603132" y="1305668"/>
                </a:cubicBezTo>
                <a:lnTo>
                  <a:pt x="69174" y="1305668"/>
                </a:lnTo>
                <a:cubicBezTo>
                  <a:pt x="30970" y="1305668"/>
                  <a:pt x="0" y="1274698"/>
                  <a:pt x="0" y="1236494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11157" y="4361437"/>
            <a:ext cx="216170" cy="172936"/>
          </a:xfrm>
          <a:custGeom>
            <a:avLst/>
            <a:gdLst/>
            <a:ahLst/>
            <a:cxnLst/>
            <a:rect l="l" t="t" r="r" b="b"/>
            <a:pathLst>
              <a:path w="216170" h="172936">
                <a:moveTo>
                  <a:pt x="129702" y="10809"/>
                </a:moveTo>
                <a:lnTo>
                  <a:pt x="172936" y="10809"/>
                </a:lnTo>
                <a:cubicBezTo>
                  <a:pt x="178915" y="10809"/>
                  <a:pt x="183745" y="15639"/>
                  <a:pt x="183745" y="21617"/>
                </a:cubicBezTo>
                <a:cubicBezTo>
                  <a:pt x="183745" y="27595"/>
                  <a:pt x="178915" y="32426"/>
                  <a:pt x="172936" y="32426"/>
                </a:cubicBezTo>
                <a:lnTo>
                  <a:pt x="134566" y="32426"/>
                </a:lnTo>
                <a:cubicBezTo>
                  <a:pt x="132810" y="41140"/>
                  <a:pt x="126831" y="48334"/>
                  <a:pt x="118894" y="51780"/>
                </a:cubicBezTo>
                <a:lnTo>
                  <a:pt x="118894" y="151319"/>
                </a:lnTo>
                <a:lnTo>
                  <a:pt x="172936" y="151319"/>
                </a:lnTo>
                <a:cubicBezTo>
                  <a:pt x="178915" y="151319"/>
                  <a:pt x="183745" y="156149"/>
                  <a:pt x="183745" y="162128"/>
                </a:cubicBezTo>
                <a:cubicBezTo>
                  <a:pt x="183745" y="168106"/>
                  <a:pt x="178915" y="172936"/>
                  <a:pt x="172936" y="172936"/>
                </a:cubicBezTo>
                <a:lnTo>
                  <a:pt x="43234" y="172936"/>
                </a:lnTo>
                <a:cubicBezTo>
                  <a:pt x="37256" y="172936"/>
                  <a:pt x="32426" y="168106"/>
                  <a:pt x="32426" y="162128"/>
                </a:cubicBezTo>
                <a:cubicBezTo>
                  <a:pt x="32426" y="156149"/>
                  <a:pt x="37256" y="151319"/>
                  <a:pt x="43234" y="151319"/>
                </a:cubicBezTo>
                <a:lnTo>
                  <a:pt x="97277" y="151319"/>
                </a:lnTo>
                <a:lnTo>
                  <a:pt x="97277" y="51780"/>
                </a:lnTo>
                <a:cubicBezTo>
                  <a:pt x="89339" y="48301"/>
                  <a:pt x="83361" y="41106"/>
                  <a:pt x="81604" y="32426"/>
                </a:cubicBezTo>
                <a:lnTo>
                  <a:pt x="43234" y="32426"/>
                </a:lnTo>
                <a:cubicBezTo>
                  <a:pt x="37256" y="32426"/>
                  <a:pt x="32426" y="27595"/>
                  <a:pt x="32426" y="21617"/>
                </a:cubicBezTo>
                <a:cubicBezTo>
                  <a:pt x="32426" y="15639"/>
                  <a:pt x="37256" y="10809"/>
                  <a:pt x="43234" y="10809"/>
                </a:cubicBezTo>
                <a:lnTo>
                  <a:pt x="86468" y="10809"/>
                </a:lnTo>
                <a:cubicBezTo>
                  <a:pt x="91399" y="4256"/>
                  <a:pt x="99236" y="0"/>
                  <a:pt x="108085" y="0"/>
                </a:cubicBezTo>
                <a:cubicBezTo>
                  <a:pt x="116935" y="0"/>
                  <a:pt x="124771" y="4256"/>
                  <a:pt x="129702" y="10809"/>
                </a:cubicBezTo>
                <a:close/>
                <a:moveTo>
                  <a:pt x="148482" y="108085"/>
                </a:moveTo>
                <a:lnTo>
                  <a:pt x="197390" y="108085"/>
                </a:lnTo>
                <a:lnTo>
                  <a:pt x="172936" y="66135"/>
                </a:lnTo>
                <a:lnTo>
                  <a:pt x="148482" y="108085"/>
                </a:lnTo>
                <a:close/>
                <a:moveTo>
                  <a:pt x="172936" y="140511"/>
                </a:moveTo>
                <a:cubicBezTo>
                  <a:pt x="151691" y="140511"/>
                  <a:pt x="134026" y="129027"/>
                  <a:pt x="130378" y="113861"/>
                </a:cubicBezTo>
                <a:cubicBezTo>
                  <a:pt x="129499" y="110145"/>
                  <a:pt x="130715" y="106329"/>
                  <a:pt x="132641" y="103019"/>
                </a:cubicBezTo>
                <a:lnTo>
                  <a:pt x="164796" y="47895"/>
                </a:lnTo>
                <a:cubicBezTo>
                  <a:pt x="166485" y="44990"/>
                  <a:pt x="169592" y="43234"/>
                  <a:pt x="172936" y="43234"/>
                </a:cubicBezTo>
                <a:cubicBezTo>
                  <a:pt x="176280" y="43234"/>
                  <a:pt x="179388" y="45024"/>
                  <a:pt x="181076" y="47895"/>
                </a:cubicBezTo>
                <a:lnTo>
                  <a:pt x="213232" y="103019"/>
                </a:lnTo>
                <a:cubicBezTo>
                  <a:pt x="215157" y="106329"/>
                  <a:pt x="216373" y="110145"/>
                  <a:pt x="215495" y="113861"/>
                </a:cubicBezTo>
                <a:cubicBezTo>
                  <a:pt x="211847" y="128993"/>
                  <a:pt x="194182" y="140511"/>
                  <a:pt x="172936" y="140511"/>
                </a:cubicBezTo>
                <a:close/>
                <a:moveTo>
                  <a:pt x="42829" y="66135"/>
                </a:moveTo>
                <a:lnTo>
                  <a:pt x="18374" y="108085"/>
                </a:lnTo>
                <a:lnTo>
                  <a:pt x="67317" y="108085"/>
                </a:lnTo>
                <a:lnTo>
                  <a:pt x="42829" y="66135"/>
                </a:lnTo>
                <a:close/>
                <a:moveTo>
                  <a:pt x="304" y="113861"/>
                </a:moveTo>
                <a:cubicBezTo>
                  <a:pt x="-574" y="110145"/>
                  <a:pt x="642" y="106329"/>
                  <a:pt x="2567" y="103019"/>
                </a:cubicBezTo>
                <a:lnTo>
                  <a:pt x="34722" y="47895"/>
                </a:lnTo>
                <a:cubicBezTo>
                  <a:pt x="36411" y="44990"/>
                  <a:pt x="39519" y="43234"/>
                  <a:pt x="42863" y="43234"/>
                </a:cubicBezTo>
                <a:cubicBezTo>
                  <a:pt x="46206" y="43234"/>
                  <a:pt x="49314" y="45024"/>
                  <a:pt x="51003" y="47895"/>
                </a:cubicBezTo>
                <a:lnTo>
                  <a:pt x="83158" y="103019"/>
                </a:lnTo>
                <a:cubicBezTo>
                  <a:pt x="85083" y="106329"/>
                  <a:pt x="86299" y="110145"/>
                  <a:pt x="85421" y="113861"/>
                </a:cubicBezTo>
                <a:cubicBezTo>
                  <a:pt x="81773" y="128993"/>
                  <a:pt x="64108" y="140511"/>
                  <a:pt x="42862" y="140511"/>
                </a:cubicBezTo>
                <a:cubicBezTo>
                  <a:pt x="21617" y="140511"/>
                  <a:pt x="3952" y="129027"/>
                  <a:pt x="304" y="11386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6527327" y="4326849"/>
            <a:ext cx="525726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 4: Dual-Task Synergy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11157" y="4672722"/>
            <a:ext cx="5456136" cy="449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089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framework provides complementary detection: </a:t>
            </a:r>
            <a:pPr>
              <a:lnSpc>
                <a:spcPct val="140000"/>
              </a:lnSpc>
            </a:pPr>
            <a:r>
              <a:rPr lang="en-US" sz="1089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pPr>
              <a:lnSpc>
                <a:spcPct val="140000"/>
              </a:lnSpc>
            </a:pPr>
            <a:r>
              <a:rPr lang="en-US" sz="1089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known threats, and </a:t>
            </a:r>
            <a:pPr>
              <a:lnSpc>
                <a:spcPct val="140000"/>
              </a:lnSpc>
            </a:pPr>
            <a:r>
              <a:rPr lang="en-US" sz="1089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residuals</a:t>
            </a:r>
            <a:pPr>
              <a:lnSpc>
                <a:spcPct val="140000"/>
              </a:lnSpc>
            </a:pPr>
            <a:r>
              <a:rPr lang="en-US" sz="1089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unknown anomalies.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0196" y="5636841"/>
            <a:ext cx="11491609" cy="1565072"/>
          </a:xfrm>
          <a:custGeom>
            <a:avLst/>
            <a:gdLst/>
            <a:ahLst/>
            <a:cxnLst/>
            <a:rect l="l" t="t" r="r" b="b"/>
            <a:pathLst>
              <a:path w="11491609" h="1565072">
                <a:moveTo>
                  <a:pt x="69176" y="0"/>
                </a:moveTo>
                <a:lnTo>
                  <a:pt x="11422432" y="0"/>
                </a:lnTo>
                <a:cubicBezTo>
                  <a:pt x="11460637" y="0"/>
                  <a:pt x="11491609" y="30971"/>
                  <a:pt x="11491609" y="69176"/>
                </a:cubicBezTo>
                <a:lnTo>
                  <a:pt x="11491609" y="1495896"/>
                </a:lnTo>
                <a:cubicBezTo>
                  <a:pt x="11491609" y="1534101"/>
                  <a:pt x="11460637" y="1565072"/>
                  <a:pt x="11422432" y="1565072"/>
                </a:cubicBezTo>
                <a:lnTo>
                  <a:pt x="69176" y="1565072"/>
                </a:lnTo>
                <a:cubicBezTo>
                  <a:pt x="30971" y="1565072"/>
                  <a:pt x="0" y="1534101"/>
                  <a:pt x="0" y="1495896"/>
                </a:cubicBezTo>
                <a:lnTo>
                  <a:pt x="0" y="69176"/>
                </a:lnTo>
                <a:cubicBezTo>
                  <a:pt x="0" y="30997"/>
                  <a:pt x="30997" y="0"/>
                  <a:pt x="6917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8" y="5779513"/>
            <a:ext cx="11292732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Summary: Classification vs Regression Performance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2868" y="6125386"/>
            <a:ext cx="3640306" cy="933855"/>
          </a:xfrm>
          <a:custGeom>
            <a:avLst/>
            <a:gdLst/>
            <a:ahLst/>
            <a:cxnLst/>
            <a:rect l="l" t="t" r="r" b="b"/>
            <a:pathLst>
              <a:path w="3640306" h="933855">
                <a:moveTo>
                  <a:pt x="34590" y="0"/>
                </a:moveTo>
                <a:lnTo>
                  <a:pt x="3605716" y="0"/>
                </a:lnTo>
                <a:cubicBezTo>
                  <a:pt x="3624820" y="0"/>
                  <a:pt x="3640306" y="15486"/>
                  <a:pt x="3640306" y="34590"/>
                </a:cubicBezTo>
                <a:lnTo>
                  <a:pt x="3640306" y="899265"/>
                </a:lnTo>
                <a:cubicBezTo>
                  <a:pt x="3640306" y="918369"/>
                  <a:pt x="3624820" y="933855"/>
                  <a:pt x="3605716" y="933855"/>
                </a:cubicBezTo>
                <a:lnTo>
                  <a:pt x="34590" y="933855"/>
                </a:lnTo>
                <a:cubicBezTo>
                  <a:pt x="15486" y="933855"/>
                  <a:pt x="0" y="918369"/>
                  <a:pt x="0" y="899265"/>
                </a:cubicBezTo>
                <a:lnTo>
                  <a:pt x="0" y="34590"/>
                </a:lnTo>
                <a:cubicBezTo>
                  <a:pt x="0" y="15486"/>
                  <a:pt x="15486" y="0"/>
                  <a:pt x="345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57719" y="6229147"/>
            <a:ext cx="351060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6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(XGBoost)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4749" y="6505845"/>
            <a:ext cx="3536545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92.3%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6366" y="6782543"/>
            <a:ext cx="3493311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(attacks detected)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73753" y="6125386"/>
            <a:ext cx="3640306" cy="933855"/>
          </a:xfrm>
          <a:custGeom>
            <a:avLst/>
            <a:gdLst/>
            <a:ahLst/>
            <a:cxnLst/>
            <a:rect l="l" t="t" r="r" b="b"/>
            <a:pathLst>
              <a:path w="3640306" h="933855">
                <a:moveTo>
                  <a:pt x="34590" y="0"/>
                </a:moveTo>
                <a:lnTo>
                  <a:pt x="3605716" y="0"/>
                </a:lnTo>
                <a:cubicBezTo>
                  <a:pt x="3624820" y="0"/>
                  <a:pt x="3640306" y="15486"/>
                  <a:pt x="3640306" y="34590"/>
                </a:cubicBezTo>
                <a:lnTo>
                  <a:pt x="3640306" y="899265"/>
                </a:lnTo>
                <a:cubicBezTo>
                  <a:pt x="3640306" y="918369"/>
                  <a:pt x="3624820" y="933855"/>
                  <a:pt x="3605716" y="933855"/>
                </a:cubicBezTo>
                <a:lnTo>
                  <a:pt x="34590" y="933855"/>
                </a:lnTo>
                <a:cubicBezTo>
                  <a:pt x="15486" y="933855"/>
                  <a:pt x="0" y="918369"/>
                  <a:pt x="0" y="899265"/>
                </a:cubicBezTo>
                <a:lnTo>
                  <a:pt x="0" y="34590"/>
                </a:lnTo>
                <a:cubicBezTo>
                  <a:pt x="0" y="15486"/>
                  <a:pt x="15486" y="0"/>
                  <a:pt x="345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338604" y="6229147"/>
            <a:ext cx="351060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6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Best R²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325634" y="6505845"/>
            <a:ext cx="3536545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0.912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47251" y="6782543"/>
            <a:ext cx="3493311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sbytes prediction accuracy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54637" y="6125386"/>
            <a:ext cx="3640306" cy="933855"/>
          </a:xfrm>
          <a:custGeom>
            <a:avLst/>
            <a:gdLst/>
            <a:ahLst/>
            <a:cxnLst/>
            <a:rect l="l" t="t" r="r" b="b"/>
            <a:pathLst>
              <a:path w="3640306" h="933855">
                <a:moveTo>
                  <a:pt x="34590" y="0"/>
                </a:moveTo>
                <a:lnTo>
                  <a:pt x="3605716" y="0"/>
                </a:lnTo>
                <a:cubicBezTo>
                  <a:pt x="3624820" y="0"/>
                  <a:pt x="3640306" y="15486"/>
                  <a:pt x="3640306" y="34590"/>
                </a:cubicBezTo>
                <a:lnTo>
                  <a:pt x="3640306" y="899265"/>
                </a:lnTo>
                <a:cubicBezTo>
                  <a:pt x="3640306" y="918369"/>
                  <a:pt x="3624820" y="933855"/>
                  <a:pt x="3605716" y="933855"/>
                </a:cubicBezTo>
                <a:lnTo>
                  <a:pt x="34590" y="933855"/>
                </a:lnTo>
                <a:cubicBezTo>
                  <a:pt x="15486" y="933855"/>
                  <a:pt x="0" y="918369"/>
                  <a:pt x="0" y="899265"/>
                </a:cubicBezTo>
                <a:lnTo>
                  <a:pt x="0" y="34590"/>
                </a:lnTo>
                <a:cubicBezTo>
                  <a:pt x="0" y="15486"/>
                  <a:pt x="15486" y="0"/>
                  <a:pt x="3459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119488" y="6229147"/>
            <a:ext cx="351060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6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Holdout Validation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06518" y="6505845"/>
            <a:ext cx="3536545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4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28135" y="6782543"/>
            <a:ext cx="3493311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Unseen samples tested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75" y="357275"/>
            <a:ext cx="11548905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spc="56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APPLICATION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275" y="643095"/>
            <a:ext cx="11638224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2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 Operational Implications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275" y="1107552"/>
            <a:ext cx="857459" cy="35727"/>
          </a:xfrm>
          <a:custGeom>
            <a:avLst/>
            <a:gdLst/>
            <a:ahLst/>
            <a:cxnLst/>
            <a:rect l="l" t="t" r="r" b="b"/>
            <a:pathLst>
              <a:path w="857459" h="35727">
                <a:moveTo>
                  <a:pt x="0" y="0"/>
                </a:moveTo>
                <a:lnTo>
                  <a:pt x="857459" y="0"/>
                </a:lnTo>
                <a:lnTo>
                  <a:pt x="857459" y="35727"/>
                </a:lnTo>
                <a:lnTo>
                  <a:pt x="0" y="35727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" name="Shape 3"/>
          <p:cNvSpPr/>
          <p:nvPr/>
        </p:nvSpPr>
        <p:spPr>
          <a:xfrm>
            <a:off x="361741" y="1290655"/>
            <a:ext cx="5662804" cy="4287297"/>
          </a:xfrm>
          <a:custGeom>
            <a:avLst/>
            <a:gdLst/>
            <a:ahLst/>
            <a:cxnLst/>
            <a:rect l="l" t="t" r="r" b="b"/>
            <a:pathLst>
              <a:path w="5662804" h="4287297">
                <a:moveTo>
                  <a:pt x="71469" y="0"/>
                </a:moveTo>
                <a:lnTo>
                  <a:pt x="5591335" y="0"/>
                </a:lnTo>
                <a:cubicBezTo>
                  <a:pt x="5630807" y="0"/>
                  <a:pt x="5662804" y="31998"/>
                  <a:pt x="5662804" y="71469"/>
                </a:cubicBezTo>
                <a:lnTo>
                  <a:pt x="5662804" y="4215827"/>
                </a:lnTo>
                <a:cubicBezTo>
                  <a:pt x="5662804" y="4255299"/>
                  <a:pt x="5630807" y="4287297"/>
                  <a:pt x="5591335" y="4287297"/>
                </a:cubicBezTo>
                <a:lnTo>
                  <a:pt x="71469" y="4287297"/>
                </a:lnTo>
                <a:cubicBezTo>
                  <a:pt x="31998" y="4287297"/>
                  <a:pt x="0" y="4255299"/>
                  <a:pt x="0" y="4215827"/>
                </a:cubicBezTo>
                <a:lnTo>
                  <a:pt x="0" y="71469"/>
                </a:lnTo>
                <a:cubicBezTo>
                  <a:pt x="0" y="31998"/>
                  <a:pt x="31998" y="0"/>
                  <a:pt x="71469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1446" y="1473758"/>
            <a:ext cx="178637" cy="178637"/>
          </a:xfrm>
          <a:custGeom>
            <a:avLst/>
            <a:gdLst/>
            <a:ahLst/>
            <a:cxnLst/>
            <a:rect l="l" t="t" r="r" b="b"/>
            <a:pathLst>
              <a:path w="178637" h="178637">
                <a:moveTo>
                  <a:pt x="89319" y="0"/>
                </a:moveTo>
                <a:cubicBezTo>
                  <a:pt x="138615" y="0"/>
                  <a:pt x="178637" y="40022"/>
                  <a:pt x="178637" y="89319"/>
                </a:cubicBezTo>
                <a:cubicBezTo>
                  <a:pt x="178637" y="138615"/>
                  <a:pt x="138615" y="178637"/>
                  <a:pt x="89319" y="178637"/>
                </a:cubicBezTo>
                <a:cubicBezTo>
                  <a:pt x="40022" y="178637"/>
                  <a:pt x="0" y="138615"/>
                  <a:pt x="0" y="89319"/>
                </a:cubicBezTo>
                <a:cubicBezTo>
                  <a:pt x="0" y="40022"/>
                  <a:pt x="40022" y="0"/>
                  <a:pt x="89319" y="0"/>
                </a:cubicBezTo>
                <a:close/>
                <a:moveTo>
                  <a:pt x="80945" y="41868"/>
                </a:moveTo>
                <a:lnTo>
                  <a:pt x="80945" y="89319"/>
                </a:lnTo>
                <a:cubicBezTo>
                  <a:pt x="80945" y="92110"/>
                  <a:pt x="82341" y="94727"/>
                  <a:pt x="84678" y="96297"/>
                </a:cubicBezTo>
                <a:lnTo>
                  <a:pt x="118173" y="118626"/>
                </a:lnTo>
                <a:cubicBezTo>
                  <a:pt x="122011" y="121208"/>
                  <a:pt x="127209" y="120162"/>
                  <a:pt x="129791" y="116289"/>
                </a:cubicBezTo>
                <a:cubicBezTo>
                  <a:pt x="132373" y="112416"/>
                  <a:pt x="131326" y="107252"/>
                  <a:pt x="127454" y="104670"/>
                </a:cubicBezTo>
                <a:lnTo>
                  <a:pt x="97692" y="84853"/>
                </a:lnTo>
                <a:lnTo>
                  <a:pt x="97692" y="41868"/>
                </a:lnTo>
                <a:cubicBezTo>
                  <a:pt x="97692" y="37228"/>
                  <a:pt x="93959" y="33495"/>
                  <a:pt x="89319" y="33495"/>
                </a:cubicBezTo>
                <a:cubicBezTo>
                  <a:pt x="84678" y="33495"/>
                  <a:pt x="80945" y="37228"/>
                  <a:pt x="80945" y="41868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Text 5"/>
          <p:cNvSpPr/>
          <p:nvPr/>
        </p:nvSpPr>
        <p:spPr>
          <a:xfrm>
            <a:off x="732413" y="1438031"/>
            <a:ext cx="523407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Deployment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9116" y="2017346"/>
            <a:ext cx="5368053" cy="696686"/>
          </a:xfrm>
          <a:custGeom>
            <a:avLst/>
            <a:gdLst/>
            <a:ahLst/>
            <a:cxnLst/>
            <a:rect l="l" t="t" r="r" b="b"/>
            <a:pathLst>
              <a:path w="5368053" h="696686">
                <a:moveTo>
                  <a:pt x="35726" y="0"/>
                </a:moveTo>
                <a:lnTo>
                  <a:pt x="5332327" y="0"/>
                </a:lnTo>
                <a:cubicBezTo>
                  <a:pt x="5352058" y="0"/>
                  <a:pt x="5368053" y="15995"/>
                  <a:pt x="5368053" y="35726"/>
                </a:cubicBezTo>
                <a:lnTo>
                  <a:pt x="5368053" y="660960"/>
                </a:lnTo>
                <a:cubicBezTo>
                  <a:pt x="5368053" y="680691"/>
                  <a:pt x="5352058" y="696686"/>
                  <a:pt x="5332327" y="696686"/>
                </a:cubicBezTo>
                <a:lnTo>
                  <a:pt x="35726" y="696686"/>
                </a:lnTo>
                <a:cubicBezTo>
                  <a:pt x="15995" y="696686"/>
                  <a:pt x="0" y="680691"/>
                  <a:pt x="0" y="660960"/>
                </a:cubicBezTo>
                <a:lnTo>
                  <a:pt x="0" y="35726"/>
                </a:lnTo>
                <a:cubicBezTo>
                  <a:pt x="0" y="16008"/>
                  <a:pt x="16008" y="0"/>
                  <a:pt x="3572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6299" y="2124529"/>
            <a:ext cx="522514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6299" y="2374621"/>
            <a:ext cx="5225143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Immediate threat detection.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Alert/incident response.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116" y="3265435"/>
            <a:ext cx="5368053" cy="696686"/>
          </a:xfrm>
          <a:custGeom>
            <a:avLst/>
            <a:gdLst/>
            <a:ahLst/>
            <a:cxnLst/>
            <a:rect l="l" t="t" r="r" b="b"/>
            <a:pathLst>
              <a:path w="5368053" h="696686">
                <a:moveTo>
                  <a:pt x="35726" y="0"/>
                </a:moveTo>
                <a:lnTo>
                  <a:pt x="5332327" y="0"/>
                </a:lnTo>
                <a:cubicBezTo>
                  <a:pt x="5352058" y="0"/>
                  <a:pt x="5368053" y="15995"/>
                  <a:pt x="5368053" y="35726"/>
                </a:cubicBezTo>
                <a:lnTo>
                  <a:pt x="5368053" y="660960"/>
                </a:lnTo>
                <a:cubicBezTo>
                  <a:pt x="5368053" y="680691"/>
                  <a:pt x="5352058" y="696686"/>
                  <a:pt x="5332327" y="696686"/>
                </a:cubicBezTo>
                <a:lnTo>
                  <a:pt x="35726" y="696686"/>
                </a:lnTo>
                <a:cubicBezTo>
                  <a:pt x="15995" y="696686"/>
                  <a:pt x="0" y="680691"/>
                  <a:pt x="0" y="660960"/>
                </a:cubicBezTo>
                <a:lnTo>
                  <a:pt x="0" y="35726"/>
                </a:lnTo>
                <a:cubicBezTo>
                  <a:pt x="0" y="16008"/>
                  <a:pt x="16008" y="0"/>
                  <a:pt x="3572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6299" y="3372618"/>
            <a:ext cx="522514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Monitoring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6299" y="3622710"/>
            <a:ext cx="5225143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Ongoing performance monitoring.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Flag deviations.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9116" y="4513454"/>
            <a:ext cx="5368053" cy="696686"/>
          </a:xfrm>
          <a:custGeom>
            <a:avLst/>
            <a:gdLst/>
            <a:ahLst/>
            <a:cxnLst/>
            <a:rect l="l" t="t" r="r" b="b"/>
            <a:pathLst>
              <a:path w="5368053" h="696686">
                <a:moveTo>
                  <a:pt x="35726" y="0"/>
                </a:moveTo>
                <a:lnTo>
                  <a:pt x="5332327" y="0"/>
                </a:lnTo>
                <a:cubicBezTo>
                  <a:pt x="5352058" y="0"/>
                  <a:pt x="5368053" y="15995"/>
                  <a:pt x="5368053" y="35726"/>
                </a:cubicBezTo>
                <a:lnTo>
                  <a:pt x="5368053" y="660960"/>
                </a:lnTo>
                <a:cubicBezTo>
                  <a:pt x="5368053" y="680691"/>
                  <a:pt x="5352058" y="696686"/>
                  <a:pt x="5332327" y="696686"/>
                </a:cubicBezTo>
                <a:lnTo>
                  <a:pt x="35726" y="696686"/>
                </a:lnTo>
                <a:cubicBezTo>
                  <a:pt x="15995" y="696686"/>
                  <a:pt x="0" y="680691"/>
                  <a:pt x="0" y="660960"/>
                </a:cubicBezTo>
                <a:lnTo>
                  <a:pt x="0" y="35726"/>
                </a:lnTo>
                <a:cubicBezTo>
                  <a:pt x="0" y="16008"/>
                  <a:pt x="16008" y="0"/>
                  <a:pt x="3572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6299" y="4620637"/>
            <a:ext cx="522514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Workflow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6299" y="4870729"/>
            <a:ext cx="5225143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Layered defense.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Correlate alerts for priority.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3386" y="1290655"/>
            <a:ext cx="5662804" cy="2840334"/>
          </a:xfrm>
          <a:custGeom>
            <a:avLst/>
            <a:gdLst/>
            <a:ahLst/>
            <a:cxnLst/>
            <a:rect l="l" t="t" r="r" b="b"/>
            <a:pathLst>
              <a:path w="5662804" h="2840334">
                <a:moveTo>
                  <a:pt x="71463" y="0"/>
                </a:moveTo>
                <a:lnTo>
                  <a:pt x="5591342" y="0"/>
                </a:lnTo>
                <a:cubicBezTo>
                  <a:pt x="5630809" y="0"/>
                  <a:pt x="5662804" y="31995"/>
                  <a:pt x="5662804" y="71463"/>
                </a:cubicBezTo>
                <a:lnTo>
                  <a:pt x="5662804" y="2768871"/>
                </a:lnTo>
                <a:cubicBezTo>
                  <a:pt x="5662804" y="2808339"/>
                  <a:pt x="5630809" y="2840334"/>
                  <a:pt x="5591342" y="2840334"/>
                </a:cubicBezTo>
                <a:lnTo>
                  <a:pt x="71463" y="2840334"/>
                </a:lnTo>
                <a:cubicBezTo>
                  <a:pt x="31995" y="2840334"/>
                  <a:pt x="0" y="2808339"/>
                  <a:pt x="0" y="2768871"/>
                </a:cubicBezTo>
                <a:lnTo>
                  <a:pt x="0" y="71463"/>
                </a:lnTo>
                <a:cubicBezTo>
                  <a:pt x="0" y="31995"/>
                  <a:pt x="31995" y="0"/>
                  <a:pt x="71463" y="0"/>
                </a:cubicBezTo>
                <a:close/>
              </a:path>
            </a:pathLst>
          </a:custGeom>
          <a:solidFill>
            <a:srgbClr val="3D4A5C">
              <a:alpha val="30196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0762" y="1473758"/>
            <a:ext cx="223297" cy="178637"/>
          </a:xfrm>
          <a:custGeom>
            <a:avLst/>
            <a:gdLst/>
            <a:ahLst/>
            <a:cxnLst/>
            <a:rect l="l" t="t" r="r" b="b"/>
            <a:pathLst>
              <a:path w="223297" h="178637">
                <a:moveTo>
                  <a:pt x="145108" y="73444"/>
                </a:moveTo>
                <a:cubicBezTo>
                  <a:pt x="149365" y="72292"/>
                  <a:pt x="153830" y="74316"/>
                  <a:pt x="155749" y="78259"/>
                </a:cubicBezTo>
                <a:lnTo>
                  <a:pt x="162239" y="91377"/>
                </a:lnTo>
                <a:cubicBezTo>
                  <a:pt x="165833" y="91866"/>
                  <a:pt x="169357" y="92843"/>
                  <a:pt x="172671" y="94203"/>
                </a:cubicBezTo>
                <a:lnTo>
                  <a:pt x="184883" y="86074"/>
                </a:lnTo>
                <a:cubicBezTo>
                  <a:pt x="188546" y="83632"/>
                  <a:pt x="193396" y="84120"/>
                  <a:pt x="196501" y="87225"/>
                </a:cubicBezTo>
                <a:lnTo>
                  <a:pt x="203200" y="93924"/>
                </a:lnTo>
                <a:cubicBezTo>
                  <a:pt x="206305" y="97029"/>
                  <a:pt x="206794" y="101914"/>
                  <a:pt x="204351" y="105543"/>
                </a:cubicBezTo>
                <a:lnTo>
                  <a:pt x="196222" y="117719"/>
                </a:lnTo>
                <a:cubicBezTo>
                  <a:pt x="196885" y="119359"/>
                  <a:pt x="197478" y="121069"/>
                  <a:pt x="197966" y="122848"/>
                </a:cubicBezTo>
                <a:cubicBezTo>
                  <a:pt x="198455" y="124627"/>
                  <a:pt x="198769" y="126372"/>
                  <a:pt x="199013" y="128151"/>
                </a:cubicBezTo>
                <a:lnTo>
                  <a:pt x="212167" y="134641"/>
                </a:lnTo>
                <a:cubicBezTo>
                  <a:pt x="216109" y="136595"/>
                  <a:pt x="218133" y="141061"/>
                  <a:pt x="216982" y="145282"/>
                </a:cubicBezTo>
                <a:lnTo>
                  <a:pt x="214539" y="154424"/>
                </a:lnTo>
                <a:cubicBezTo>
                  <a:pt x="213388" y="158645"/>
                  <a:pt x="209445" y="161506"/>
                  <a:pt x="205049" y="161227"/>
                </a:cubicBezTo>
                <a:lnTo>
                  <a:pt x="190395" y="160285"/>
                </a:lnTo>
                <a:cubicBezTo>
                  <a:pt x="188197" y="163111"/>
                  <a:pt x="185650" y="165728"/>
                  <a:pt x="182754" y="167961"/>
                </a:cubicBezTo>
                <a:lnTo>
                  <a:pt x="183696" y="182580"/>
                </a:lnTo>
                <a:cubicBezTo>
                  <a:pt x="183976" y="186976"/>
                  <a:pt x="181115" y="190954"/>
                  <a:pt x="176893" y="192070"/>
                </a:cubicBezTo>
                <a:lnTo>
                  <a:pt x="167752" y="194512"/>
                </a:lnTo>
                <a:cubicBezTo>
                  <a:pt x="163495" y="195664"/>
                  <a:pt x="159064" y="193640"/>
                  <a:pt x="157110" y="189698"/>
                </a:cubicBezTo>
                <a:lnTo>
                  <a:pt x="150621" y="176579"/>
                </a:lnTo>
                <a:cubicBezTo>
                  <a:pt x="147027" y="176090"/>
                  <a:pt x="143503" y="175113"/>
                  <a:pt x="140188" y="173753"/>
                </a:cubicBezTo>
                <a:lnTo>
                  <a:pt x="127977" y="181882"/>
                </a:lnTo>
                <a:cubicBezTo>
                  <a:pt x="124313" y="184324"/>
                  <a:pt x="119464" y="183836"/>
                  <a:pt x="116359" y="180731"/>
                </a:cubicBezTo>
                <a:lnTo>
                  <a:pt x="109660" y="174032"/>
                </a:lnTo>
                <a:cubicBezTo>
                  <a:pt x="106554" y="170927"/>
                  <a:pt x="106066" y="166077"/>
                  <a:pt x="108508" y="162413"/>
                </a:cubicBezTo>
                <a:lnTo>
                  <a:pt x="116638" y="150202"/>
                </a:lnTo>
                <a:cubicBezTo>
                  <a:pt x="115975" y="148562"/>
                  <a:pt x="115382" y="146852"/>
                  <a:pt x="114893" y="145073"/>
                </a:cubicBezTo>
                <a:cubicBezTo>
                  <a:pt x="114405" y="143294"/>
                  <a:pt x="114091" y="141514"/>
                  <a:pt x="113846" y="139770"/>
                </a:cubicBezTo>
                <a:lnTo>
                  <a:pt x="100693" y="133280"/>
                </a:lnTo>
                <a:cubicBezTo>
                  <a:pt x="96750" y="131326"/>
                  <a:pt x="94762" y="126860"/>
                  <a:pt x="95878" y="122639"/>
                </a:cubicBezTo>
                <a:lnTo>
                  <a:pt x="98320" y="113498"/>
                </a:lnTo>
                <a:cubicBezTo>
                  <a:pt x="99472" y="109276"/>
                  <a:pt x="103414" y="106415"/>
                  <a:pt x="107810" y="106694"/>
                </a:cubicBezTo>
                <a:lnTo>
                  <a:pt x="122429" y="107636"/>
                </a:lnTo>
                <a:cubicBezTo>
                  <a:pt x="124627" y="104810"/>
                  <a:pt x="127174" y="102193"/>
                  <a:pt x="130070" y="99960"/>
                </a:cubicBezTo>
                <a:lnTo>
                  <a:pt x="129128" y="85376"/>
                </a:lnTo>
                <a:cubicBezTo>
                  <a:pt x="128849" y="80980"/>
                  <a:pt x="131710" y="77002"/>
                  <a:pt x="135932" y="75886"/>
                </a:cubicBezTo>
                <a:lnTo>
                  <a:pt x="145073" y="73444"/>
                </a:lnTo>
                <a:close/>
                <a:moveTo>
                  <a:pt x="156447" y="118626"/>
                </a:moveTo>
                <a:cubicBezTo>
                  <a:pt x="147974" y="118636"/>
                  <a:pt x="141103" y="125523"/>
                  <a:pt x="141113" y="133995"/>
                </a:cubicBezTo>
                <a:cubicBezTo>
                  <a:pt x="141123" y="142468"/>
                  <a:pt x="148009" y="149339"/>
                  <a:pt x="156482" y="149330"/>
                </a:cubicBezTo>
                <a:cubicBezTo>
                  <a:pt x="164955" y="149320"/>
                  <a:pt x="171826" y="142433"/>
                  <a:pt x="171816" y="133961"/>
                </a:cubicBezTo>
                <a:cubicBezTo>
                  <a:pt x="171807" y="125488"/>
                  <a:pt x="164920" y="118617"/>
                  <a:pt x="156447" y="118626"/>
                </a:cubicBezTo>
                <a:close/>
                <a:moveTo>
                  <a:pt x="78468" y="-15875"/>
                </a:moveTo>
                <a:lnTo>
                  <a:pt x="87609" y="-13433"/>
                </a:lnTo>
                <a:cubicBezTo>
                  <a:pt x="91831" y="-12281"/>
                  <a:pt x="94692" y="-8304"/>
                  <a:pt x="94413" y="-3943"/>
                </a:cubicBezTo>
                <a:lnTo>
                  <a:pt x="93471" y="10641"/>
                </a:lnTo>
                <a:cubicBezTo>
                  <a:pt x="96366" y="12874"/>
                  <a:pt x="98913" y="15456"/>
                  <a:pt x="101112" y="18317"/>
                </a:cubicBezTo>
                <a:lnTo>
                  <a:pt x="115765" y="17375"/>
                </a:lnTo>
                <a:cubicBezTo>
                  <a:pt x="120127" y="17096"/>
                  <a:pt x="124104" y="19957"/>
                  <a:pt x="125255" y="24179"/>
                </a:cubicBezTo>
                <a:lnTo>
                  <a:pt x="127698" y="33320"/>
                </a:lnTo>
                <a:cubicBezTo>
                  <a:pt x="128814" y="37542"/>
                  <a:pt x="126826" y="42008"/>
                  <a:pt x="122883" y="43962"/>
                </a:cubicBezTo>
                <a:lnTo>
                  <a:pt x="109729" y="50451"/>
                </a:lnTo>
                <a:cubicBezTo>
                  <a:pt x="109485" y="52230"/>
                  <a:pt x="109136" y="54010"/>
                  <a:pt x="108683" y="55754"/>
                </a:cubicBezTo>
                <a:cubicBezTo>
                  <a:pt x="108229" y="57499"/>
                  <a:pt x="107601" y="59243"/>
                  <a:pt x="106938" y="60883"/>
                </a:cubicBezTo>
                <a:lnTo>
                  <a:pt x="115068" y="73095"/>
                </a:lnTo>
                <a:cubicBezTo>
                  <a:pt x="117510" y="76758"/>
                  <a:pt x="117021" y="81608"/>
                  <a:pt x="113916" y="84713"/>
                </a:cubicBezTo>
                <a:lnTo>
                  <a:pt x="107217" y="91412"/>
                </a:lnTo>
                <a:cubicBezTo>
                  <a:pt x="104112" y="94517"/>
                  <a:pt x="99262" y="95006"/>
                  <a:pt x="95599" y="92563"/>
                </a:cubicBezTo>
                <a:lnTo>
                  <a:pt x="83387" y="84434"/>
                </a:lnTo>
                <a:cubicBezTo>
                  <a:pt x="80073" y="85795"/>
                  <a:pt x="76549" y="86772"/>
                  <a:pt x="72955" y="87260"/>
                </a:cubicBezTo>
                <a:lnTo>
                  <a:pt x="66466" y="100379"/>
                </a:lnTo>
                <a:cubicBezTo>
                  <a:pt x="64512" y="104321"/>
                  <a:pt x="60046" y="106310"/>
                  <a:pt x="55824" y="105194"/>
                </a:cubicBezTo>
                <a:lnTo>
                  <a:pt x="46683" y="102751"/>
                </a:lnTo>
                <a:cubicBezTo>
                  <a:pt x="42426" y="101600"/>
                  <a:pt x="39600" y="97623"/>
                  <a:pt x="39879" y="93261"/>
                </a:cubicBezTo>
                <a:lnTo>
                  <a:pt x="40821" y="78642"/>
                </a:lnTo>
                <a:cubicBezTo>
                  <a:pt x="37926" y="76409"/>
                  <a:pt x="35379" y="73827"/>
                  <a:pt x="33180" y="70966"/>
                </a:cubicBezTo>
                <a:lnTo>
                  <a:pt x="18527" y="71909"/>
                </a:lnTo>
                <a:cubicBezTo>
                  <a:pt x="14165" y="72188"/>
                  <a:pt x="10188" y="69327"/>
                  <a:pt x="9037" y="65105"/>
                </a:cubicBezTo>
                <a:lnTo>
                  <a:pt x="6594" y="55964"/>
                </a:lnTo>
                <a:cubicBezTo>
                  <a:pt x="5478" y="51742"/>
                  <a:pt x="7466" y="47276"/>
                  <a:pt x="11409" y="45322"/>
                </a:cubicBezTo>
                <a:lnTo>
                  <a:pt x="24563" y="38833"/>
                </a:lnTo>
                <a:cubicBezTo>
                  <a:pt x="24807" y="37053"/>
                  <a:pt x="25156" y="35309"/>
                  <a:pt x="25609" y="33529"/>
                </a:cubicBezTo>
                <a:cubicBezTo>
                  <a:pt x="26098" y="31750"/>
                  <a:pt x="26656" y="30040"/>
                  <a:pt x="27354" y="28401"/>
                </a:cubicBezTo>
                <a:lnTo>
                  <a:pt x="19224" y="16224"/>
                </a:lnTo>
                <a:cubicBezTo>
                  <a:pt x="16782" y="12560"/>
                  <a:pt x="17271" y="7711"/>
                  <a:pt x="20376" y="4605"/>
                </a:cubicBezTo>
                <a:lnTo>
                  <a:pt x="27075" y="-2093"/>
                </a:lnTo>
                <a:cubicBezTo>
                  <a:pt x="30180" y="-5199"/>
                  <a:pt x="35030" y="-5687"/>
                  <a:pt x="38693" y="-3245"/>
                </a:cubicBezTo>
                <a:lnTo>
                  <a:pt x="50905" y="4885"/>
                </a:lnTo>
                <a:cubicBezTo>
                  <a:pt x="54219" y="3524"/>
                  <a:pt x="57743" y="2547"/>
                  <a:pt x="61337" y="2059"/>
                </a:cubicBezTo>
                <a:lnTo>
                  <a:pt x="67826" y="-11060"/>
                </a:lnTo>
                <a:cubicBezTo>
                  <a:pt x="69780" y="-15003"/>
                  <a:pt x="74211" y="-16991"/>
                  <a:pt x="78468" y="-15875"/>
                </a:cubicBezTo>
                <a:close/>
                <a:moveTo>
                  <a:pt x="67129" y="29308"/>
                </a:moveTo>
                <a:cubicBezTo>
                  <a:pt x="58656" y="29308"/>
                  <a:pt x="51777" y="36187"/>
                  <a:pt x="51777" y="44659"/>
                </a:cubicBezTo>
                <a:cubicBezTo>
                  <a:pt x="51777" y="53132"/>
                  <a:pt x="58656" y="60011"/>
                  <a:pt x="67129" y="60011"/>
                </a:cubicBezTo>
                <a:cubicBezTo>
                  <a:pt x="75601" y="60011"/>
                  <a:pt x="82480" y="53132"/>
                  <a:pt x="82480" y="44659"/>
                </a:cubicBezTo>
                <a:cubicBezTo>
                  <a:pt x="82480" y="36187"/>
                  <a:pt x="75601" y="29308"/>
                  <a:pt x="67129" y="29308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6544059" y="1438031"/>
            <a:ext cx="523407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Predictive Features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0762" y="1795305"/>
            <a:ext cx="5439508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 features align with network security knowledge.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38626" y="2134716"/>
            <a:ext cx="5350189" cy="535912"/>
          </a:xfrm>
          <a:custGeom>
            <a:avLst/>
            <a:gdLst/>
            <a:ahLst/>
            <a:cxnLst/>
            <a:rect l="l" t="t" r="r" b="b"/>
            <a:pathLst>
              <a:path w="5350189" h="535912">
                <a:moveTo>
                  <a:pt x="35727" y="0"/>
                </a:moveTo>
                <a:lnTo>
                  <a:pt x="5350189" y="0"/>
                </a:lnTo>
                <a:lnTo>
                  <a:pt x="5350189" y="535912"/>
                </a:lnTo>
                <a:lnTo>
                  <a:pt x="35727" y="535912"/>
                </a:lnTo>
                <a:cubicBezTo>
                  <a:pt x="15996" y="535912"/>
                  <a:pt x="0" y="519916"/>
                  <a:pt x="0" y="500185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38626" y="2134716"/>
            <a:ext cx="35727" cy="535912"/>
          </a:xfrm>
          <a:custGeom>
            <a:avLst/>
            <a:gdLst/>
            <a:ahLst/>
            <a:cxnLst/>
            <a:rect l="l" t="t" r="r" b="b"/>
            <a:pathLst>
              <a:path w="35727" h="535912">
                <a:moveTo>
                  <a:pt x="35727" y="0"/>
                </a:moveTo>
                <a:lnTo>
                  <a:pt x="35727" y="0"/>
                </a:lnTo>
                <a:lnTo>
                  <a:pt x="35727" y="535912"/>
                </a:lnTo>
                <a:lnTo>
                  <a:pt x="35727" y="535912"/>
                </a:lnTo>
                <a:cubicBezTo>
                  <a:pt x="15996" y="535912"/>
                  <a:pt x="0" y="519916"/>
                  <a:pt x="0" y="500185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6427945" y="2206171"/>
            <a:ext cx="52608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TTL Values (sttl, dttl)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27945" y="2420536"/>
            <a:ext cx="525193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Indicate routing anomalies or spoofing.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38626" y="2742084"/>
            <a:ext cx="5350189" cy="535912"/>
          </a:xfrm>
          <a:custGeom>
            <a:avLst/>
            <a:gdLst/>
            <a:ahLst/>
            <a:cxnLst/>
            <a:rect l="l" t="t" r="r" b="b"/>
            <a:pathLst>
              <a:path w="5350189" h="535912">
                <a:moveTo>
                  <a:pt x="35727" y="0"/>
                </a:moveTo>
                <a:lnTo>
                  <a:pt x="5350189" y="0"/>
                </a:lnTo>
                <a:lnTo>
                  <a:pt x="5350189" y="535912"/>
                </a:lnTo>
                <a:lnTo>
                  <a:pt x="35727" y="535912"/>
                </a:lnTo>
                <a:cubicBezTo>
                  <a:pt x="15996" y="535912"/>
                  <a:pt x="0" y="519916"/>
                  <a:pt x="0" y="500185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38626" y="2742084"/>
            <a:ext cx="35727" cy="535912"/>
          </a:xfrm>
          <a:custGeom>
            <a:avLst/>
            <a:gdLst/>
            <a:ahLst/>
            <a:cxnLst/>
            <a:rect l="l" t="t" r="r" b="b"/>
            <a:pathLst>
              <a:path w="35727" h="535912">
                <a:moveTo>
                  <a:pt x="35727" y="0"/>
                </a:moveTo>
                <a:lnTo>
                  <a:pt x="35727" y="0"/>
                </a:lnTo>
                <a:lnTo>
                  <a:pt x="35727" y="535912"/>
                </a:lnTo>
                <a:lnTo>
                  <a:pt x="35727" y="535912"/>
                </a:lnTo>
                <a:cubicBezTo>
                  <a:pt x="15996" y="535912"/>
                  <a:pt x="0" y="519916"/>
                  <a:pt x="0" y="500185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27945" y="2813538"/>
            <a:ext cx="52608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States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7945" y="3027903"/>
            <a:ext cx="525193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Reveal scan attempts or malformed packets.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8626" y="3349451"/>
            <a:ext cx="5350189" cy="535912"/>
          </a:xfrm>
          <a:custGeom>
            <a:avLst/>
            <a:gdLst/>
            <a:ahLst/>
            <a:cxnLst/>
            <a:rect l="l" t="t" r="r" b="b"/>
            <a:pathLst>
              <a:path w="5350189" h="535912">
                <a:moveTo>
                  <a:pt x="35727" y="0"/>
                </a:moveTo>
                <a:lnTo>
                  <a:pt x="5350189" y="0"/>
                </a:lnTo>
                <a:lnTo>
                  <a:pt x="5350189" y="535912"/>
                </a:lnTo>
                <a:lnTo>
                  <a:pt x="35727" y="535912"/>
                </a:lnTo>
                <a:cubicBezTo>
                  <a:pt x="15996" y="535912"/>
                  <a:pt x="0" y="519916"/>
                  <a:pt x="0" y="500185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38626" y="3349451"/>
            <a:ext cx="35727" cy="535912"/>
          </a:xfrm>
          <a:custGeom>
            <a:avLst/>
            <a:gdLst/>
            <a:ahLst/>
            <a:cxnLst/>
            <a:rect l="l" t="t" r="r" b="b"/>
            <a:pathLst>
              <a:path w="35727" h="535912">
                <a:moveTo>
                  <a:pt x="35727" y="0"/>
                </a:moveTo>
                <a:lnTo>
                  <a:pt x="35727" y="0"/>
                </a:lnTo>
                <a:lnTo>
                  <a:pt x="35727" y="535912"/>
                </a:lnTo>
                <a:lnTo>
                  <a:pt x="35727" y="535912"/>
                </a:lnTo>
                <a:cubicBezTo>
                  <a:pt x="15996" y="535912"/>
                  <a:pt x="0" y="519916"/>
                  <a:pt x="0" y="500185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6427945" y="3420905"/>
            <a:ext cx="5260870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Timing Metrics (tcprtt)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27945" y="3635270"/>
            <a:ext cx="525193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Unusual patterns indicate proxying or load balancers.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3386" y="4248848"/>
            <a:ext cx="5662804" cy="1330848"/>
          </a:xfrm>
          <a:custGeom>
            <a:avLst/>
            <a:gdLst/>
            <a:ahLst/>
            <a:cxnLst/>
            <a:rect l="l" t="t" r="r" b="b"/>
            <a:pathLst>
              <a:path w="5662804" h="1330848">
                <a:moveTo>
                  <a:pt x="71453" y="0"/>
                </a:moveTo>
                <a:lnTo>
                  <a:pt x="5591351" y="0"/>
                </a:lnTo>
                <a:cubicBezTo>
                  <a:pt x="5630814" y="0"/>
                  <a:pt x="5662804" y="31991"/>
                  <a:pt x="5662804" y="71453"/>
                </a:cubicBezTo>
                <a:lnTo>
                  <a:pt x="5662804" y="1259395"/>
                </a:lnTo>
                <a:cubicBezTo>
                  <a:pt x="5662804" y="1298858"/>
                  <a:pt x="5630814" y="1330848"/>
                  <a:pt x="5591351" y="1330848"/>
                </a:cubicBezTo>
                <a:lnTo>
                  <a:pt x="71453" y="1330848"/>
                </a:lnTo>
                <a:cubicBezTo>
                  <a:pt x="31991" y="1330848"/>
                  <a:pt x="0" y="1298858"/>
                  <a:pt x="0" y="1259395"/>
                </a:cubicBezTo>
                <a:lnTo>
                  <a:pt x="0" y="71453"/>
                </a:lnTo>
                <a:cubicBezTo>
                  <a:pt x="0" y="32017"/>
                  <a:pt x="32017" y="0"/>
                  <a:pt x="7145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43092" y="4440883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80387" y="0"/>
                </a:moveTo>
                <a:cubicBezTo>
                  <a:pt x="85003" y="0"/>
                  <a:pt x="89242" y="2543"/>
                  <a:pt x="91440" y="6594"/>
                </a:cubicBezTo>
                <a:lnTo>
                  <a:pt x="159266" y="132199"/>
                </a:lnTo>
                <a:cubicBezTo>
                  <a:pt x="161370" y="136092"/>
                  <a:pt x="161276" y="140803"/>
                  <a:pt x="159015" y="144602"/>
                </a:cubicBezTo>
                <a:cubicBezTo>
                  <a:pt x="156754" y="148402"/>
                  <a:pt x="152641" y="150725"/>
                  <a:pt x="148213" y="150725"/>
                </a:cubicBezTo>
                <a:lnTo>
                  <a:pt x="12560" y="150725"/>
                </a:lnTo>
                <a:cubicBezTo>
                  <a:pt x="8133" y="150725"/>
                  <a:pt x="4051" y="148402"/>
                  <a:pt x="1758" y="144602"/>
                </a:cubicBezTo>
                <a:cubicBezTo>
                  <a:pt x="-534" y="140803"/>
                  <a:pt x="-597" y="136092"/>
                  <a:pt x="1507" y="132199"/>
                </a:cubicBezTo>
                <a:lnTo>
                  <a:pt x="69334" y="6594"/>
                </a:lnTo>
                <a:cubicBezTo>
                  <a:pt x="71532" y="2543"/>
                  <a:pt x="75771" y="0"/>
                  <a:pt x="80387" y="0"/>
                </a:cubicBezTo>
                <a:close/>
                <a:moveTo>
                  <a:pt x="80387" y="52754"/>
                </a:moveTo>
                <a:cubicBezTo>
                  <a:pt x="76210" y="52754"/>
                  <a:pt x="72851" y="56114"/>
                  <a:pt x="72851" y="60290"/>
                </a:cubicBezTo>
                <a:lnTo>
                  <a:pt x="72851" y="95459"/>
                </a:lnTo>
                <a:cubicBezTo>
                  <a:pt x="72851" y="99636"/>
                  <a:pt x="76210" y="102996"/>
                  <a:pt x="80387" y="102996"/>
                </a:cubicBezTo>
                <a:cubicBezTo>
                  <a:pt x="84563" y="102996"/>
                  <a:pt x="87923" y="99636"/>
                  <a:pt x="87923" y="95459"/>
                </a:cubicBezTo>
                <a:lnTo>
                  <a:pt x="87923" y="60290"/>
                </a:lnTo>
                <a:cubicBezTo>
                  <a:pt x="87923" y="56114"/>
                  <a:pt x="84563" y="52754"/>
                  <a:pt x="80387" y="52754"/>
                </a:cubicBezTo>
                <a:close/>
                <a:moveTo>
                  <a:pt x="88771" y="120580"/>
                </a:moveTo>
                <a:cubicBezTo>
                  <a:pt x="88962" y="117468"/>
                  <a:pt x="87410" y="114507"/>
                  <a:pt x="84742" y="112894"/>
                </a:cubicBezTo>
                <a:cubicBezTo>
                  <a:pt x="82074" y="111280"/>
                  <a:pt x="78731" y="111280"/>
                  <a:pt x="76063" y="112894"/>
                </a:cubicBezTo>
                <a:cubicBezTo>
                  <a:pt x="73395" y="114507"/>
                  <a:pt x="71843" y="117468"/>
                  <a:pt x="72034" y="120580"/>
                </a:cubicBezTo>
                <a:cubicBezTo>
                  <a:pt x="71843" y="123692"/>
                  <a:pt x="73395" y="126653"/>
                  <a:pt x="76063" y="128267"/>
                </a:cubicBezTo>
                <a:cubicBezTo>
                  <a:pt x="78731" y="129881"/>
                  <a:pt x="82074" y="129881"/>
                  <a:pt x="84742" y="128267"/>
                </a:cubicBezTo>
                <a:cubicBezTo>
                  <a:pt x="87410" y="126653"/>
                  <a:pt x="88962" y="123692"/>
                  <a:pt x="88771" y="12058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5" name="Text 33"/>
          <p:cNvSpPr/>
          <p:nvPr/>
        </p:nvSpPr>
        <p:spPr>
          <a:xfrm>
            <a:off x="6526195" y="4396224"/>
            <a:ext cx="524300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Considerations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4160" y="4775828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0" y="53591"/>
                </a:moveTo>
                <a:cubicBezTo>
                  <a:pt x="0" y="24013"/>
                  <a:pt x="24013" y="0"/>
                  <a:pt x="53591" y="0"/>
                </a:cubicBezTo>
                <a:cubicBezTo>
                  <a:pt x="83169" y="0"/>
                  <a:pt x="107182" y="24013"/>
                  <a:pt x="107182" y="53591"/>
                </a:cubicBezTo>
                <a:cubicBezTo>
                  <a:pt x="107182" y="83169"/>
                  <a:pt x="83169" y="107182"/>
                  <a:pt x="53591" y="107182"/>
                </a:cubicBezTo>
                <a:cubicBezTo>
                  <a:pt x="24013" y="107182"/>
                  <a:pt x="0" y="83169"/>
                  <a:pt x="0" y="53591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7" name="Text 35"/>
          <p:cNvSpPr/>
          <p:nvPr/>
        </p:nvSpPr>
        <p:spPr>
          <a:xfrm>
            <a:off x="6479867" y="4717771"/>
            <a:ext cx="528040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may not reflect latest threats.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4160" y="5025920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0" y="53591"/>
                </a:moveTo>
                <a:cubicBezTo>
                  <a:pt x="0" y="24013"/>
                  <a:pt x="24013" y="0"/>
                  <a:pt x="53591" y="0"/>
                </a:cubicBezTo>
                <a:cubicBezTo>
                  <a:pt x="83169" y="0"/>
                  <a:pt x="107182" y="24013"/>
                  <a:pt x="107182" y="53591"/>
                </a:cubicBezTo>
                <a:cubicBezTo>
                  <a:pt x="107182" y="83169"/>
                  <a:pt x="83169" y="107182"/>
                  <a:pt x="53591" y="107182"/>
                </a:cubicBezTo>
                <a:cubicBezTo>
                  <a:pt x="24013" y="107182"/>
                  <a:pt x="0" y="83169"/>
                  <a:pt x="0" y="5359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9" name="Text 37"/>
          <p:cNvSpPr/>
          <p:nvPr/>
        </p:nvSpPr>
        <p:spPr>
          <a:xfrm>
            <a:off x="6479867" y="4967863"/>
            <a:ext cx="528040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drift requires periodic retraining.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4160" y="5276013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0" y="53591"/>
                </a:moveTo>
                <a:cubicBezTo>
                  <a:pt x="0" y="24013"/>
                  <a:pt x="24013" y="0"/>
                  <a:pt x="53591" y="0"/>
                </a:cubicBezTo>
                <a:cubicBezTo>
                  <a:pt x="83169" y="0"/>
                  <a:pt x="107182" y="24013"/>
                  <a:pt x="107182" y="53591"/>
                </a:cubicBezTo>
                <a:cubicBezTo>
                  <a:pt x="107182" y="83169"/>
                  <a:pt x="83169" y="107182"/>
                  <a:pt x="53591" y="107182"/>
                </a:cubicBezTo>
                <a:cubicBezTo>
                  <a:pt x="24013" y="107182"/>
                  <a:pt x="0" y="83169"/>
                  <a:pt x="0" y="53591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1" name="Text 39"/>
          <p:cNvSpPr/>
          <p:nvPr/>
        </p:nvSpPr>
        <p:spPr>
          <a:xfrm>
            <a:off x="6479867" y="5217955"/>
            <a:ext cx="528040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deployment needs optimization.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1741" y="5731538"/>
            <a:ext cx="11468519" cy="1223666"/>
          </a:xfrm>
          <a:custGeom>
            <a:avLst/>
            <a:gdLst/>
            <a:ahLst/>
            <a:cxnLst/>
            <a:rect l="l" t="t" r="r" b="b"/>
            <a:pathLst>
              <a:path w="11468519" h="1223666">
                <a:moveTo>
                  <a:pt x="71450" y="0"/>
                </a:moveTo>
                <a:lnTo>
                  <a:pt x="11397069" y="0"/>
                </a:lnTo>
                <a:cubicBezTo>
                  <a:pt x="11436529" y="0"/>
                  <a:pt x="11468519" y="31989"/>
                  <a:pt x="11468519" y="71450"/>
                </a:cubicBezTo>
                <a:lnTo>
                  <a:pt x="11468519" y="1152216"/>
                </a:lnTo>
                <a:cubicBezTo>
                  <a:pt x="11468519" y="1191677"/>
                  <a:pt x="11436529" y="1223666"/>
                  <a:pt x="11397069" y="1223666"/>
                </a:cubicBezTo>
                <a:lnTo>
                  <a:pt x="71450" y="1223666"/>
                </a:lnTo>
                <a:cubicBezTo>
                  <a:pt x="32016" y="1223666"/>
                  <a:pt x="0" y="1191650"/>
                  <a:pt x="0" y="1152216"/>
                </a:cubicBezTo>
                <a:lnTo>
                  <a:pt x="0" y="71450"/>
                </a:lnTo>
                <a:cubicBezTo>
                  <a:pt x="0" y="32016"/>
                  <a:pt x="32016" y="0"/>
                  <a:pt x="7145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A0AEC0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9116" y="5878914"/>
            <a:ext cx="1126308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Deployment Considerations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9116" y="6236188"/>
            <a:ext cx="2715288" cy="571640"/>
          </a:xfrm>
          <a:custGeom>
            <a:avLst/>
            <a:gdLst/>
            <a:ahLst/>
            <a:cxnLst/>
            <a:rect l="l" t="t" r="r" b="b"/>
            <a:pathLst>
              <a:path w="2715288" h="571640">
                <a:moveTo>
                  <a:pt x="35727" y="0"/>
                </a:moveTo>
                <a:lnTo>
                  <a:pt x="2679560" y="0"/>
                </a:lnTo>
                <a:cubicBezTo>
                  <a:pt x="2699292" y="0"/>
                  <a:pt x="2715288" y="15996"/>
                  <a:pt x="2715288" y="35727"/>
                </a:cubicBezTo>
                <a:lnTo>
                  <a:pt x="2715288" y="535912"/>
                </a:lnTo>
                <a:cubicBezTo>
                  <a:pt x="2715288" y="555644"/>
                  <a:pt x="2699292" y="571640"/>
                  <a:pt x="2679560" y="571640"/>
                </a:cubicBezTo>
                <a:lnTo>
                  <a:pt x="35727" y="571640"/>
                </a:lnTo>
                <a:cubicBezTo>
                  <a:pt x="15996" y="571640"/>
                  <a:pt x="0" y="555644"/>
                  <a:pt x="0" y="53591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4844" y="6307643"/>
            <a:ext cx="264383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9310" y="6557736"/>
            <a:ext cx="263490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Sub-ms prediction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330052" y="6236188"/>
            <a:ext cx="2715288" cy="571640"/>
          </a:xfrm>
          <a:custGeom>
            <a:avLst/>
            <a:gdLst/>
            <a:ahLst/>
            <a:cxnLst/>
            <a:rect l="l" t="t" r="r" b="b"/>
            <a:pathLst>
              <a:path w="2715288" h="571640">
                <a:moveTo>
                  <a:pt x="35727" y="0"/>
                </a:moveTo>
                <a:lnTo>
                  <a:pt x="2679560" y="0"/>
                </a:lnTo>
                <a:cubicBezTo>
                  <a:pt x="2699292" y="0"/>
                  <a:pt x="2715288" y="15996"/>
                  <a:pt x="2715288" y="35727"/>
                </a:cubicBezTo>
                <a:lnTo>
                  <a:pt x="2715288" y="535912"/>
                </a:lnTo>
                <a:cubicBezTo>
                  <a:pt x="2715288" y="555644"/>
                  <a:pt x="2699292" y="571640"/>
                  <a:pt x="2679560" y="571640"/>
                </a:cubicBezTo>
                <a:lnTo>
                  <a:pt x="35727" y="571640"/>
                </a:lnTo>
                <a:cubicBezTo>
                  <a:pt x="15996" y="571640"/>
                  <a:pt x="0" y="555644"/>
                  <a:pt x="0" y="53591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365779" y="6307643"/>
            <a:ext cx="264383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370245" y="6557736"/>
            <a:ext cx="263490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scaling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51057" y="6236188"/>
            <a:ext cx="2715288" cy="571640"/>
          </a:xfrm>
          <a:custGeom>
            <a:avLst/>
            <a:gdLst/>
            <a:ahLst/>
            <a:cxnLst/>
            <a:rect l="l" t="t" r="r" b="b"/>
            <a:pathLst>
              <a:path w="2715288" h="571640">
                <a:moveTo>
                  <a:pt x="35727" y="0"/>
                </a:moveTo>
                <a:lnTo>
                  <a:pt x="2679560" y="0"/>
                </a:lnTo>
                <a:cubicBezTo>
                  <a:pt x="2699292" y="0"/>
                  <a:pt x="2715288" y="15996"/>
                  <a:pt x="2715288" y="35727"/>
                </a:cubicBezTo>
                <a:lnTo>
                  <a:pt x="2715288" y="535912"/>
                </a:lnTo>
                <a:cubicBezTo>
                  <a:pt x="2715288" y="555644"/>
                  <a:pt x="2699292" y="571640"/>
                  <a:pt x="2679560" y="571640"/>
                </a:cubicBezTo>
                <a:lnTo>
                  <a:pt x="35727" y="571640"/>
                </a:lnTo>
                <a:cubicBezTo>
                  <a:pt x="15996" y="571640"/>
                  <a:pt x="0" y="555644"/>
                  <a:pt x="0" y="53591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186784" y="6307643"/>
            <a:ext cx="264383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191250" y="6557736"/>
            <a:ext cx="263490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retraining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971992" y="6236188"/>
            <a:ext cx="2715288" cy="571640"/>
          </a:xfrm>
          <a:custGeom>
            <a:avLst/>
            <a:gdLst/>
            <a:ahLst/>
            <a:cxnLst/>
            <a:rect l="l" t="t" r="r" b="b"/>
            <a:pathLst>
              <a:path w="2715288" h="571640">
                <a:moveTo>
                  <a:pt x="35727" y="0"/>
                </a:moveTo>
                <a:lnTo>
                  <a:pt x="2679560" y="0"/>
                </a:lnTo>
                <a:cubicBezTo>
                  <a:pt x="2699292" y="0"/>
                  <a:pt x="2715288" y="15996"/>
                  <a:pt x="2715288" y="35727"/>
                </a:cubicBezTo>
                <a:lnTo>
                  <a:pt x="2715288" y="535912"/>
                </a:lnTo>
                <a:cubicBezTo>
                  <a:pt x="2715288" y="555644"/>
                  <a:pt x="2699292" y="571640"/>
                  <a:pt x="2679560" y="571640"/>
                </a:cubicBezTo>
                <a:lnTo>
                  <a:pt x="35727" y="571640"/>
                </a:lnTo>
                <a:cubicBezTo>
                  <a:pt x="15996" y="571640"/>
                  <a:pt x="0" y="555644"/>
                  <a:pt x="0" y="53591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007719" y="6307643"/>
            <a:ext cx="264383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Interpretability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12185" y="6557736"/>
            <a:ext cx="263490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E5E7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explanations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982f6bf909daf09ca04a797a560365fe9122f12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3D4A5C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05722" y="19050"/>
            <a:ext cx="2781300" cy="514350"/>
          </a:xfrm>
          <a:custGeom>
            <a:avLst/>
            <a:gdLst/>
            <a:ahLst/>
            <a:cxnLst/>
            <a:rect l="l" t="t" r="r" b="b"/>
            <a:pathLst>
              <a:path w="2781300" h="514350">
                <a:moveTo>
                  <a:pt x="76201" y="0"/>
                </a:moveTo>
                <a:lnTo>
                  <a:pt x="2705099" y="0"/>
                </a:lnTo>
                <a:cubicBezTo>
                  <a:pt x="2747184" y="0"/>
                  <a:pt x="2781300" y="34116"/>
                  <a:pt x="2781300" y="76201"/>
                </a:cubicBezTo>
                <a:lnTo>
                  <a:pt x="2781300" y="438149"/>
                </a:lnTo>
                <a:cubicBezTo>
                  <a:pt x="2781300" y="480234"/>
                  <a:pt x="2747184" y="514350"/>
                  <a:pt x="2705099" y="514350"/>
                </a:cubicBezTo>
                <a:lnTo>
                  <a:pt x="76201" y="514350"/>
                </a:lnTo>
                <a:cubicBezTo>
                  <a:pt x="34116" y="514350"/>
                  <a:pt x="0" y="480234"/>
                  <a:pt x="0" y="4381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D4A5C">
              <a:alpha val="70196"/>
            </a:srgbClr>
          </a:solidFill>
          <a:ln w="25400">
            <a:solidFill>
              <a:srgbClr val="A0AE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96222" y="142875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15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86497" y="923925"/>
            <a:ext cx="5619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Contributions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Future Directions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2050" y="2581275"/>
            <a:ext cx="9867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a rigorous, end-to-end machine learning pipeline for cyber threat analytics combining methodological integrity with practical applicability.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23963" y="3481388"/>
            <a:ext cx="4772025" cy="2295525"/>
          </a:xfrm>
          <a:custGeom>
            <a:avLst/>
            <a:gdLst/>
            <a:ahLst/>
            <a:cxnLst/>
            <a:rect l="l" t="t" r="r" b="b"/>
            <a:pathLst>
              <a:path w="4772025" h="2295525">
                <a:moveTo>
                  <a:pt x="76211" y="0"/>
                </a:moveTo>
                <a:lnTo>
                  <a:pt x="4695814" y="0"/>
                </a:lnTo>
                <a:cubicBezTo>
                  <a:pt x="4737904" y="0"/>
                  <a:pt x="4772025" y="34121"/>
                  <a:pt x="4772025" y="76211"/>
                </a:cubicBezTo>
                <a:lnTo>
                  <a:pt x="4772025" y="2219314"/>
                </a:lnTo>
                <a:cubicBezTo>
                  <a:pt x="4772025" y="2261404"/>
                  <a:pt x="4737904" y="2295525"/>
                  <a:pt x="469581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3D4A5C">
              <a:alpha val="40000"/>
            </a:srgbClr>
          </a:solidFill>
          <a:ln w="12700">
            <a:solidFill>
              <a:srgbClr val="A0AEC0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43038" y="3714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0" name="Text 7"/>
          <p:cNvSpPr/>
          <p:nvPr/>
        </p:nvSpPr>
        <p:spPr>
          <a:xfrm>
            <a:off x="1657350" y="3676650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466850" y="40957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2" name="Text 9"/>
          <p:cNvSpPr/>
          <p:nvPr/>
        </p:nvSpPr>
        <p:spPr>
          <a:xfrm>
            <a:off x="1685925" y="405765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Dual-Task Framework: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Novel combination of classification and regression for complementary threat detection.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466850" y="46291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4" name="Text 11"/>
          <p:cNvSpPr/>
          <p:nvPr/>
        </p:nvSpPr>
        <p:spPr>
          <a:xfrm>
            <a:off x="1685925" y="459105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Methodological Rigor: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Systematic data leakage prevention and holdout validation.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466850" y="51625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6" name="Text 13"/>
          <p:cNvSpPr/>
          <p:nvPr/>
        </p:nvSpPr>
        <p:spPr>
          <a:xfrm>
            <a:off x="1685925" y="512445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Insights: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Identification of key predictive features and residual-based anomaly detection.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6013" y="3481388"/>
            <a:ext cx="4772025" cy="2295525"/>
          </a:xfrm>
          <a:custGeom>
            <a:avLst/>
            <a:gdLst/>
            <a:ahLst/>
            <a:cxnLst/>
            <a:rect l="l" t="t" r="r" b="b"/>
            <a:pathLst>
              <a:path w="4772025" h="2295525">
                <a:moveTo>
                  <a:pt x="76211" y="0"/>
                </a:moveTo>
                <a:lnTo>
                  <a:pt x="4695814" y="0"/>
                </a:lnTo>
                <a:cubicBezTo>
                  <a:pt x="4737904" y="0"/>
                  <a:pt x="4772025" y="34121"/>
                  <a:pt x="4772025" y="76211"/>
                </a:cubicBezTo>
                <a:lnTo>
                  <a:pt x="4772025" y="2219314"/>
                </a:lnTo>
                <a:cubicBezTo>
                  <a:pt x="4772025" y="2261404"/>
                  <a:pt x="4737904" y="2295525"/>
                  <a:pt x="469581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3D4A5C">
              <a:alpha val="40000"/>
            </a:srgbClr>
          </a:solidFill>
          <a:ln w="12700">
            <a:solidFill>
              <a:srgbClr val="6B7280">
                <a:alpha val="5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15088" y="3714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3676650"/>
            <a:ext cx="423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38900" y="40957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1" name="Text 18"/>
          <p:cNvSpPr/>
          <p:nvPr/>
        </p:nvSpPr>
        <p:spPr>
          <a:xfrm>
            <a:off x="6657975" y="405765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Deployment: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 models for streaming data and low-latency inference.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38900" y="46291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3" name="Text 20"/>
          <p:cNvSpPr/>
          <p:nvPr/>
        </p:nvSpPr>
        <p:spPr>
          <a:xfrm>
            <a:off x="6657975" y="459105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Drift Adaptation: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 evolving threat landscapes via online learning.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38900" y="51625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5" name="Text 22"/>
          <p:cNvSpPr/>
          <p:nvPr/>
        </p:nvSpPr>
        <p:spPr>
          <a:xfrm>
            <a:off x="6657975" y="512445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SOAR Integration: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7E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 with security platforms for automated response.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181526" y="601027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7" name="Text 24"/>
          <p:cNvSpPr/>
          <p:nvPr/>
        </p:nvSpPr>
        <p:spPr>
          <a:xfrm>
            <a:off x="3848249" y="6200775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862536" y="6581775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5E7E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Ashutosh Kumar Verma (475852) &amp; Ramik Sharma (477656)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Cyber Threat Analytics</dc:title>
  <dc:subject>Machine Learning for Cyber Threat Analytics</dc:subject>
  <dc:creator>Kimi</dc:creator>
  <cp:lastModifiedBy>Kimi</cp:lastModifiedBy>
  <cp:revision>1</cp:revision>
  <dcterms:created xsi:type="dcterms:W3CDTF">2026-01-25T23:26:27Z</dcterms:created>
  <dcterms:modified xsi:type="dcterms:W3CDTF">2026-01-25T23:26:27Z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{"Label":"Machine Learning for Cyber Threat Analytics","ContentProducer":"001191110108MACG2KBH8F10000","ProduceID":"19bf7732-ece2-8691-8000-00009c9a900b","ReservedCode1":"","ContentPropagator":"001191110108MACG2KBH8F20000","PropagateID":"19bf7732-ece2-8691-8000-00009c9a900b","ReservedCode2":""}</vt:lpwstr>
  </property>
</Properties>
</file>